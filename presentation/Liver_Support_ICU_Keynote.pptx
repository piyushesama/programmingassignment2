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60520"/>
            <a:ext cx="12191695" cy="9144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51960"/>
            <a:ext cx="4023360" cy="54864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161288"/>
            <a:ext cx="310896" cy="64008"/>
          </a:xfrm>
          <a:prstGeom prst="rect">
            <a:avLst/>
          </a:prstGeom>
          <a:solidFill>
            <a:srgbClr val="13A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43584" y="10515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3A89E"/>
                </a:solidFill>
                <a:latin typeface="Calibri"/>
              </a:rPr>
              <a:t>ICU • HEPATOLOGY • TRANSPLANT CRITICAL CARE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37360"/>
            <a:ext cx="105156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Calibri"/>
              </a:rPr>
              <a:t>Role of Liver Support Systems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Calibri"/>
              </a:rPr>
              <a:t>in the ICU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290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F4A259"/>
                </a:solidFill>
                <a:latin typeface="Calibri"/>
              </a:rPr>
              <a:t>The Peri-Transplant Setting — with a focus on PLEX &amp; CRRT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52628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E6ECF2"/>
                </a:solidFill>
                <a:latin typeface="Calibri"/>
              </a:rPr>
              <a:t>Recent advances and futuristic directions in extracorporeal liver support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80644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C6B7A"/>
                </a:solidFill>
                <a:latin typeface="Calibri"/>
              </a:rPr>
              <a:t>Prepared for Dr. Amit  •  Gleneagles  •  </a:t>
            </a:r>
            <a:r>
              <a:rPr sz="1300" b="1" i="0">
                <a:solidFill>
                  <a:srgbClr val="13A89E"/>
                </a:solidFill>
                <a:latin typeface="Calibri"/>
              </a:rPr>
              <a:t>Keynote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310896" cy="64008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9264" y="3657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B998B"/>
                </a:solidFill>
                <a:latin typeface="Calibri"/>
              </a:rPr>
              <a:t>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86384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0B2545"/>
                </a:solidFill>
                <a:latin typeface="Calibri"/>
              </a:rPr>
              <a:t>What this talk covers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C6B7A"/>
                </a:solidFill>
                <a:latin typeface="Calibri"/>
              </a:rPr>
              <a:t>Role of Liver Support Systems in the ICU  •  Peri-Transplant Setting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008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5C6B7A"/>
                </a:solidFill>
                <a:latin typeface="Calibri"/>
              </a:rP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920240"/>
            <a:ext cx="3611880" cy="20574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  <a:effectLst>
            <a:outerShdw blurRad="90000" dist="40000" dir="5400000" rotWithShape="0">
              <a:srgbClr val="0B254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920240"/>
            <a:ext cx="3611880" cy="9144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176272"/>
            <a:ext cx="36118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B998B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880360"/>
            <a:ext cx="3154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0B2545"/>
                </a:solidFill>
                <a:latin typeface="Calibri"/>
              </a:rPr>
              <a:t>The clinical problem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291840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C6B7A"/>
                </a:solidFill>
                <a:latin typeface="Calibri"/>
              </a:rPr>
              <a:t>ALF, ACLF &amp; the peri-transplant window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07408" y="1920240"/>
            <a:ext cx="3611880" cy="20574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  <a:effectLst>
            <a:outerShdw blurRad="90000" dist="40000" dir="5400000" rotWithShape="0">
              <a:srgbClr val="0B254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07408" y="1920240"/>
            <a:ext cx="3611880" cy="91440"/>
          </a:xfrm>
          <a:prstGeom prst="rect">
            <a:avLst/>
          </a:prstGeom>
          <a:solidFill>
            <a:srgbClr val="13A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81728" y="2176272"/>
            <a:ext cx="36118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3A89E"/>
                </a:solidFill>
                <a:latin typeface="Calibri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81728" y="2880360"/>
            <a:ext cx="3154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0B2545"/>
                </a:solidFill>
                <a:latin typeface="Calibri"/>
              </a:rPr>
              <a:t>Why support the liver?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81728" y="3291840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C6B7A"/>
                </a:solidFill>
                <a:latin typeface="Calibri"/>
              </a:rPr>
              <a:t>Toxins, immune storm &amp; multi-organ failure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66176" y="1920240"/>
            <a:ext cx="3611880" cy="20574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  <a:effectLst>
            <a:outerShdw blurRad="90000" dist="40000" dir="5400000" rotWithShape="0">
              <a:srgbClr val="0B254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66176" y="1920240"/>
            <a:ext cx="3611880" cy="914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40496" y="2176272"/>
            <a:ext cx="36118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E8743B"/>
                </a:solidFill>
                <a:latin typeface="Calibri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0496" y="2880360"/>
            <a:ext cx="3154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0B2545"/>
                </a:solidFill>
                <a:latin typeface="Calibri"/>
              </a:rPr>
              <a:t>CRRT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40496" y="3291840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C6B7A"/>
                </a:solidFill>
                <a:latin typeface="Calibri"/>
              </a:rPr>
              <a:t>Ammonia control &amp; metabolic rescue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251960"/>
            <a:ext cx="3611880" cy="20574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  <a:effectLst>
            <a:outerShdw blurRad="90000" dist="40000" dir="5400000" rotWithShape="0">
              <a:srgbClr val="0B254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4251960"/>
            <a:ext cx="3611880" cy="9144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507992"/>
            <a:ext cx="36118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B998B"/>
                </a:solidFill>
                <a:latin typeface="Calibri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212080"/>
            <a:ext cx="3154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0B2545"/>
                </a:solidFill>
                <a:latin typeface="Calibri"/>
              </a:rPr>
              <a:t>Plasma exchange (PLEX)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5623560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C6B7A"/>
                </a:solidFill>
                <a:latin typeface="Calibri"/>
              </a:rPr>
              <a:t>The strongest survival evidence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07408" y="4251960"/>
            <a:ext cx="3611880" cy="20574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  <a:effectLst>
            <a:outerShdw blurRad="90000" dist="40000" dir="5400000" rotWithShape="0">
              <a:srgbClr val="0B254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407408" y="4251960"/>
            <a:ext cx="3611880" cy="91440"/>
          </a:xfrm>
          <a:prstGeom prst="rect">
            <a:avLst/>
          </a:prstGeom>
          <a:solidFill>
            <a:srgbClr val="F4A2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81728" y="4507992"/>
            <a:ext cx="36118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F4A259"/>
                </a:solidFill>
                <a:latin typeface="Calibri"/>
              </a:rPr>
              <a:t>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81728" y="5212080"/>
            <a:ext cx="3154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0B2545"/>
                </a:solidFill>
                <a:latin typeface="Calibri"/>
              </a:rPr>
              <a:t>Albumin dialysis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81728" y="5623560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C6B7A"/>
                </a:solidFill>
                <a:latin typeface="Calibri"/>
              </a:rPr>
              <a:t>MARS / Prometheus — lessons learned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66176" y="4251960"/>
            <a:ext cx="3611880" cy="20574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  <a:effectLst>
            <a:outerShdw blurRad="90000" dist="40000" dir="5400000" rotWithShape="0">
              <a:srgbClr val="0B254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266176" y="4251960"/>
            <a:ext cx="3611880" cy="91440"/>
          </a:xfrm>
          <a:prstGeom prst="rect">
            <a:avLst/>
          </a:prstGeom>
          <a:solidFill>
            <a:srgbClr val="13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40496" y="4507992"/>
            <a:ext cx="36118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3335C"/>
                </a:solidFill>
                <a:latin typeface="Calibri"/>
              </a:rPr>
              <a:t>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40496" y="5212080"/>
            <a:ext cx="3154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0B2545"/>
                </a:solidFill>
                <a:latin typeface="Calibri"/>
              </a:rPr>
              <a:t>Future directions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40496" y="5623560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C6B7A"/>
                </a:solidFill>
                <a:latin typeface="Calibri"/>
              </a:rPr>
              <a:t>Bioartificial liver, cells &amp; AI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310896" cy="64008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9264" y="3657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B998B"/>
                </a:solidFill>
                <a:latin typeface="Calibri"/>
              </a:rPr>
              <a:t>THE CLINICAL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86384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0B2545"/>
                </a:solidFill>
                <a:latin typeface="Calibri"/>
              </a:rPr>
              <a:t>Liver failure is a multi-organ emergency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5C6B7A"/>
                </a:solidFill>
                <a:latin typeface="Calibri"/>
              </a:rPr>
              <a:t>Rapid loss of hepatic function → encephalopathy, coagulopathy and circulatory collapse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C6B7A"/>
                </a:solidFill>
                <a:latin typeface="Calibri"/>
              </a:rPr>
              <a:t>Role of Liver Support Systems in the ICU  •  Peri-Transplant Setting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77295" y="64008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5C6B7A"/>
                </a:solidFill>
                <a:latin typeface="Calibri"/>
              </a:rPr>
              <a:t>03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2103120"/>
            <a:ext cx="118872" cy="118872"/>
          </a:xfrm>
          <a:prstGeom prst="ellipse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2011680"/>
            <a:ext cx="572414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B2545"/>
                </a:solidFill>
                <a:latin typeface="Calibri"/>
              </a:rPr>
              <a:t>Detoxification fails —  </a:t>
            </a:r>
            <a:r>
              <a:rPr sz="1600" b="0" i="0">
                <a:solidFill>
                  <a:srgbClr val="1A2A39"/>
                </a:solidFill>
                <a:latin typeface="Calibri"/>
              </a:rPr>
              <a:t>ammonia, bilirubin, bile acids &amp; toxins accumulate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2852928"/>
            <a:ext cx="118872" cy="118872"/>
          </a:xfrm>
          <a:prstGeom prst="ellipse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" y="2761488"/>
            <a:ext cx="572414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B2545"/>
                </a:solidFill>
                <a:latin typeface="Calibri"/>
              </a:rPr>
              <a:t>Synthesis fails —  </a:t>
            </a:r>
            <a:r>
              <a:rPr sz="1600" b="0" i="0">
                <a:solidFill>
                  <a:srgbClr val="1A2A39"/>
                </a:solidFill>
                <a:latin typeface="Calibri"/>
              </a:rPr>
              <a:t>coagulopathy, hypoalbuminaemia, hypoglycaemia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3602736"/>
            <a:ext cx="118872" cy="118872"/>
          </a:xfrm>
          <a:prstGeom prst="ellipse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3511296"/>
            <a:ext cx="572414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B2545"/>
                </a:solidFill>
                <a:latin typeface="Calibri"/>
              </a:rPr>
              <a:t>Immune dysregulation —  </a:t>
            </a:r>
            <a:r>
              <a:rPr sz="1600" b="0" i="0">
                <a:solidFill>
                  <a:srgbClr val="1A2A39"/>
                </a:solidFill>
                <a:latin typeface="Calibri"/>
              </a:rPr>
              <a:t>a systemic inflammatory / cytokine storm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4352544"/>
            <a:ext cx="118872" cy="118872"/>
          </a:xfrm>
          <a:prstGeom prst="ellipse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0976" y="4261104"/>
            <a:ext cx="572414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B2545"/>
                </a:solidFill>
                <a:latin typeface="Calibri"/>
              </a:rPr>
              <a:t>Multi-organ failure —  </a:t>
            </a:r>
            <a:r>
              <a:rPr sz="1600" b="0" i="0">
                <a:solidFill>
                  <a:srgbClr val="1A2A39"/>
                </a:solidFill>
                <a:latin typeface="Calibri"/>
              </a:rPr>
              <a:t>brain, kidney, circulation &amp; lungs follow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5102352"/>
            <a:ext cx="118872" cy="118872"/>
          </a:xfrm>
          <a:prstGeom prst="ellipse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0976" y="5010912"/>
            <a:ext cx="572414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B2545"/>
                </a:solidFill>
                <a:latin typeface="Calibri"/>
              </a:rPr>
              <a:t>The liver can regenerate —  </a:t>
            </a:r>
            <a:r>
              <a:rPr sz="1600" b="0" i="0">
                <a:solidFill>
                  <a:srgbClr val="1A2A39"/>
                </a:solidFill>
                <a:latin typeface="Calibri"/>
              </a:rPr>
              <a:t>if the patient survives the acute hit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40880" y="1965960"/>
            <a:ext cx="4572000" cy="1325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ffectLst>
            <a:outerShdw blurRad="90000" dist="40000" dir="5400000" rotWithShape="0">
              <a:srgbClr val="0B254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040880" y="1965960"/>
            <a:ext cx="91440" cy="132588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96912" y="2130552"/>
            <a:ext cx="4206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 i="0">
                <a:solidFill>
                  <a:srgbClr val="E8743B"/>
                </a:solidFill>
                <a:latin typeface="Calibri"/>
              </a:rPr>
              <a:t>Hours–days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0" y="2578608"/>
            <a:ext cx="4114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5C6B7A"/>
                </a:solidFill>
                <a:latin typeface="Calibri"/>
              </a:rPr>
              <a:t>Window from presentation to irreversible multi-organ failure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40880" y="3429000"/>
            <a:ext cx="4572000" cy="1325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ffectLst>
            <a:outerShdw blurRad="90000" dist="40000" dir="5400000" rotWithShape="0">
              <a:srgbClr val="0B254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040880" y="3429000"/>
            <a:ext cx="91440" cy="132588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96912" y="3593592"/>
            <a:ext cx="4206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 i="0">
                <a:solidFill>
                  <a:srgbClr val="1B998B"/>
                </a:solidFill>
                <a:latin typeface="Calibri"/>
              </a:rPr>
              <a:t>2 goals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0" y="4041648"/>
            <a:ext cx="4114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5C6B7A"/>
                </a:solidFill>
                <a:latin typeface="Calibri"/>
              </a:rPr>
              <a:t>Bridge to recovery  OR  bridge to transplantation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0880" y="4983480"/>
            <a:ext cx="4572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0B2545"/>
                </a:solidFill>
                <a:latin typeface="Calibri"/>
              </a:rPr>
              <a:t>Liver support buys time — </a:t>
            </a:r>
            <a:r>
              <a:rPr sz="1500" b="0" i="0">
                <a:solidFill>
                  <a:srgbClr val="1A2A39"/>
                </a:solidFill>
                <a:latin typeface="Calibri"/>
              </a:rPr>
              <a:t>either for the native liver to regenerate, or for a graft to become available.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310896" cy="64008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9264" y="3657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B998B"/>
                </a:solidFill>
                <a:latin typeface="Calibri"/>
              </a:rPr>
              <a:t>DEFINITIONS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86384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0B2545"/>
                </a:solidFill>
                <a:latin typeface="Calibri"/>
              </a:rPr>
              <a:t>ALF vs ACLF vs the peri-transplant patient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C6B7A"/>
                </a:solidFill>
                <a:latin typeface="Calibri"/>
              </a:rPr>
              <a:t>Role of Liver Support Systems in the ICU  •  Peri-Transplant Setting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008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5C6B7A"/>
                </a:solidFill>
                <a:latin typeface="Calibri"/>
              </a:rPr>
              <a:t>04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965960"/>
            <a:ext cx="11064240" cy="132588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  <a:effectLst>
            <a:outerShdw blurRad="90000" dist="40000" dir="5400000" rotWithShape="0">
              <a:srgbClr val="0B254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965960"/>
            <a:ext cx="109728" cy="132588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130552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1B998B"/>
                </a:solidFill>
                <a:latin typeface="Calibri"/>
              </a:rPr>
              <a:t>Acute liver failure (ALF)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69464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2A39"/>
                </a:solidFill>
                <a:latin typeface="Calibri"/>
              </a:rPr>
              <a:t>Sudden failure in a previously healthy liver. Coagulopathy + encephalopathy within weeks. Often a single insult (paracetamol, virus).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483864"/>
            <a:ext cx="11064240" cy="132588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  <a:effectLst>
            <a:outerShdw blurRad="90000" dist="40000" dir="5400000" rotWithShape="0">
              <a:srgbClr val="0B254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3483864"/>
            <a:ext cx="109728" cy="132588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648456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E8743B"/>
                </a:solidFill>
                <a:latin typeface="Calibri"/>
              </a:rPr>
              <a:t>Acute-on-chronic liver failure (ACLF)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087368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2A39"/>
                </a:solidFill>
                <a:latin typeface="Calibri"/>
              </a:rPr>
              <a:t>Acute decompensation on cirrhosis with organ failures and high short-term mortality. Driven by systemic inflammation.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5001768"/>
            <a:ext cx="11064240" cy="132588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  <a:effectLst>
            <a:outerShdw blurRad="90000" dist="40000" dir="5400000" rotWithShape="0">
              <a:srgbClr val="0B254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5001768"/>
            <a:ext cx="109728" cy="1325880"/>
          </a:xfrm>
          <a:prstGeom prst="rect">
            <a:avLst/>
          </a:prstGeom>
          <a:solidFill>
            <a:srgbClr val="13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16636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13335C"/>
                </a:solidFill>
                <a:latin typeface="Calibri"/>
              </a:rPr>
              <a:t>Peri-transplant ICU patient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5605272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2A39"/>
                </a:solidFill>
                <a:latin typeface="Calibri"/>
              </a:rPr>
              <a:t>On the waiting list or post-graft — needing organ support to stay a viable transplant candidate or to recover the new graft.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310896" cy="64008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9264" y="3657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B998B"/>
                </a:solidFill>
                <a:latin typeface="Calibri"/>
              </a:rPr>
              <a:t>EPIDEMIOLOGY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86384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0B2545"/>
                </a:solidFill>
                <a:latin typeface="Calibri"/>
              </a:rPr>
              <a:t>Rare, but with very high mortality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C6B7A"/>
                </a:solidFill>
                <a:latin typeface="Calibri"/>
              </a:rPr>
              <a:t>Role of Liver Support Systems in the ICU  •  Peri-Transplant Setting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008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5C6B7A"/>
                </a:solidFill>
                <a:latin typeface="Calibri"/>
              </a:rPr>
              <a:t>05</a:t>
            </a:r>
          </a:p>
        </p:txBody>
      </p:sp>
      <p:pic>
        <p:nvPicPr>
          <p:cNvPr id="8" name="Picture 7" descr="02_incid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6766560" cy="457763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589520" y="1920240"/>
            <a:ext cx="4023360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ffectLst>
            <a:outerShdw blurRad="90000" dist="40000" dir="5400000" rotWithShape="0">
              <a:srgbClr val="0B254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89520" y="1920240"/>
            <a:ext cx="91440" cy="123444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45552" y="2084832"/>
            <a:ext cx="3657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 i="0">
                <a:solidFill>
                  <a:srgbClr val="1B998B"/>
                </a:solidFill>
                <a:latin typeface="Calibri"/>
              </a:rPr>
              <a:t>~1–6 / million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2441448"/>
            <a:ext cx="3566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5C6B7A"/>
                </a:solidFill>
                <a:latin typeface="Calibri"/>
              </a:rPr>
              <a:t>Annual ALF incidence in the developed world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89520" y="3291840"/>
            <a:ext cx="4023360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ffectLst>
            <a:outerShdw blurRad="90000" dist="40000" dir="5400000" rotWithShape="0">
              <a:srgbClr val="0B254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589520" y="3291840"/>
            <a:ext cx="91440" cy="12344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45552" y="3456432"/>
            <a:ext cx="3657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 i="0">
                <a:solidFill>
                  <a:srgbClr val="E8743B"/>
                </a:solidFill>
                <a:latin typeface="Calibri"/>
              </a:rPr>
              <a:t>27%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3813048"/>
            <a:ext cx="3566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5C6B7A"/>
                </a:solidFill>
                <a:latin typeface="Calibri"/>
              </a:rPr>
              <a:t>30-day mortality in a population-based ALF cohort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89520" y="4663440"/>
            <a:ext cx="4023360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ffectLst>
            <a:outerShdw blurRad="90000" dist="40000" dir="5400000" rotWithShape="0">
              <a:srgbClr val="0B254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589520" y="4663440"/>
            <a:ext cx="91440" cy="1234440"/>
          </a:xfrm>
          <a:prstGeom prst="rect">
            <a:avLst/>
          </a:prstGeom>
          <a:solidFill>
            <a:srgbClr val="13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45552" y="4828032"/>
            <a:ext cx="3657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 i="0">
                <a:solidFill>
                  <a:srgbClr val="13335C"/>
                </a:solidFill>
                <a:latin typeface="Calibri"/>
              </a:rPr>
              <a:t>&lt;0.01%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0" y="5184648"/>
            <a:ext cx="3566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5C6B7A"/>
                </a:solidFill>
                <a:latin typeface="Calibri"/>
              </a:rPr>
              <a:t>Received a transplant where access is limited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310896" cy="64008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9264" y="3657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B998B"/>
                </a:solidFill>
                <a:latin typeface="Calibri"/>
              </a:rPr>
              <a:t>AETIOLOGY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86384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0B2545"/>
                </a:solidFill>
                <a:latin typeface="Calibri"/>
              </a:rPr>
              <a:t>Causes drive the therapeutic choice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C6B7A"/>
                </a:solidFill>
                <a:latin typeface="Calibri"/>
              </a:rPr>
              <a:t>Role of Liver Support Systems in the ICU  •  Peri-Transplant Setting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008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5C6B7A"/>
                </a:solidFill>
                <a:latin typeface="Calibri"/>
              </a:rPr>
              <a:t>06</a:t>
            </a:r>
          </a:p>
        </p:txBody>
      </p:sp>
      <p:pic>
        <p:nvPicPr>
          <p:cNvPr id="8" name="Picture 7" descr="01_etio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783080"/>
            <a:ext cx="6949440" cy="4425033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7498079" y="2194560"/>
            <a:ext cx="118872" cy="118872"/>
          </a:xfrm>
          <a:prstGeom prst="ellipse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08975" y="2103120"/>
            <a:ext cx="389534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0B2545"/>
                </a:solidFill>
                <a:latin typeface="Calibri"/>
              </a:rPr>
              <a:t>Paracetamol / DILI —  </a:t>
            </a:r>
            <a:r>
              <a:rPr sz="1450" b="0" i="0">
                <a:solidFill>
                  <a:srgbClr val="1A2A39"/>
                </a:solidFill>
                <a:latin typeface="Calibri"/>
              </a:rPr>
              <a:t>the dominant Western cause; supportive ± NAC</a:t>
            </a:r>
          </a:p>
        </p:txBody>
      </p:sp>
      <p:sp>
        <p:nvSpPr>
          <p:cNvPr id="11" name="Oval 10"/>
          <p:cNvSpPr/>
          <p:nvPr/>
        </p:nvSpPr>
        <p:spPr>
          <a:xfrm>
            <a:off x="7498079" y="3108960"/>
            <a:ext cx="118872" cy="118872"/>
          </a:xfrm>
          <a:prstGeom prst="ellipse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8975" y="3017520"/>
            <a:ext cx="389534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0B2545"/>
                </a:solidFill>
                <a:latin typeface="Calibri"/>
              </a:rPr>
              <a:t>Viral (HBV, HEV) —  </a:t>
            </a:r>
            <a:r>
              <a:rPr sz="1450" b="0" i="0">
                <a:solidFill>
                  <a:srgbClr val="1A2A39"/>
                </a:solidFill>
                <a:latin typeface="Calibri"/>
              </a:rPr>
              <a:t>dominant across Asia; antiviral + support</a:t>
            </a:r>
          </a:p>
        </p:txBody>
      </p:sp>
      <p:sp>
        <p:nvSpPr>
          <p:cNvPr id="13" name="Oval 12"/>
          <p:cNvSpPr/>
          <p:nvPr/>
        </p:nvSpPr>
        <p:spPr>
          <a:xfrm>
            <a:off x="7498079" y="4023360"/>
            <a:ext cx="118872" cy="118872"/>
          </a:xfrm>
          <a:prstGeom prst="ellipse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08975" y="3931920"/>
            <a:ext cx="389534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0B2545"/>
                </a:solidFill>
                <a:latin typeface="Calibri"/>
              </a:rPr>
              <a:t>Indeterminate —  </a:t>
            </a:r>
            <a:r>
              <a:rPr sz="1450" b="0" i="0">
                <a:solidFill>
                  <a:srgbClr val="1A2A39"/>
                </a:solidFill>
                <a:latin typeface="Calibri"/>
              </a:rPr>
              <a:t>a large subgroup; high transplant need</a:t>
            </a:r>
          </a:p>
        </p:txBody>
      </p:sp>
      <p:sp>
        <p:nvSpPr>
          <p:cNvPr id="15" name="Oval 14"/>
          <p:cNvSpPr/>
          <p:nvPr/>
        </p:nvSpPr>
        <p:spPr>
          <a:xfrm>
            <a:off x="7498079" y="4937760"/>
            <a:ext cx="118872" cy="118872"/>
          </a:xfrm>
          <a:prstGeom prst="ellipse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08975" y="4846320"/>
            <a:ext cx="389534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0B2545"/>
                </a:solidFill>
                <a:latin typeface="Calibri"/>
              </a:rPr>
              <a:t>Immune &amp; vascular —  </a:t>
            </a:r>
            <a:r>
              <a:rPr sz="1450" b="0" i="0">
                <a:solidFill>
                  <a:srgbClr val="1A2A39"/>
                </a:solidFill>
                <a:latin typeface="Calibri"/>
              </a:rPr>
              <a:t>may respond to PLEX / steroids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310896" cy="64008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9264" y="3657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B998B"/>
                </a:solidFill>
                <a:latin typeface="Calibri"/>
              </a:rPr>
              <a:t>WHY IT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86384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0B2545"/>
                </a:solidFill>
                <a:latin typeface="Calibri"/>
              </a:rPr>
              <a:t>Intensive support has transformed survival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C6B7A"/>
                </a:solidFill>
                <a:latin typeface="Calibri"/>
              </a:rPr>
              <a:t>Role of Liver Support Systems in the ICU  •  Peri-Transplant Setting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008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5C6B7A"/>
                </a:solidFill>
                <a:latin typeface="Calibri"/>
              </a:rPr>
              <a:t>07</a:t>
            </a:r>
          </a:p>
        </p:txBody>
      </p:sp>
      <p:pic>
        <p:nvPicPr>
          <p:cNvPr id="8" name="Picture 7" descr="03_mortality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28800"/>
            <a:ext cx="7315200" cy="44075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229600" y="2103120"/>
            <a:ext cx="347472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0B2545"/>
                </a:solidFill>
                <a:latin typeface="Calibri"/>
              </a:rPr>
              <a:t>Each layer of organ support — </a:t>
            </a:r>
            <a:r>
              <a:rPr sz="1550" b="0" i="0">
                <a:solidFill>
                  <a:srgbClr val="1A2A39"/>
                </a:solidFill>
                <a:latin typeface="Calibri"/>
              </a:rPr>
              <a:t>modern ICU care, then extracorporeal liver support, then transplantation — </a:t>
            </a:r>
            <a:r>
              <a:rPr sz="1550" b="0" i="0">
                <a:solidFill>
                  <a:srgbClr val="1A2A39"/>
                </a:solidFill>
                <a:latin typeface="Calibri"/>
              </a:rPr>
              <a:t>has incrementally improved survival in liver failure.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377440"/>
            <a:ext cx="822960" cy="9144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B998B"/>
                </a:solidFill>
                <a:latin typeface="Calibri"/>
              </a:rPr>
              <a:t>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748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The rationale for
extracorporeal liver support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20624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E6ECF2"/>
                </a:solidFill>
                <a:latin typeface="Calibri"/>
              </a:rPr>
              <a:t>Remove what the failing liver can't — and modulate the inflammatory storm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008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5C6B7A"/>
                </a:solidFill>
                <a:latin typeface="Calibr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310896" cy="64008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9264" y="3657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B998B"/>
                </a:solidFill>
                <a:latin typeface="Calibri"/>
              </a:rPr>
              <a:t>TARGETS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86384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0B2545"/>
                </a:solidFill>
                <a:latin typeface="Calibri"/>
              </a:rPr>
              <a:t>What liver support actually removes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C6B7A"/>
                </a:solidFill>
                <a:latin typeface="Calibri"/>
              </a:rPr>
              <a:t>Role of Liver Support Systems in the ICU  •  Peri-Transplant Setting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008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5C6B7A"/>
                </a:solidFill>
                <a:latin typeface="Calibri"/>
              </a:rPr>
              <a:t>09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011680"/>
            <a:ext cx="2697480" cy="329184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  <a:effectLst>
            <a:outerShdw blurRad="90000" dist="40000" dir="5400000" rotWithShape="0">
              <a:srgbClr val="0B254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011680"/>
            <a:ext cx="2697480" cy="77724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157984"/>
            <a:ext cx="2331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FFFFFF"/>
                </a:solidFill>
                <a:latin typeface="Calibri"/>
              </a:rPr>
              <a:t>Water-soluble toxins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971800"/>
            <a:ext cx="2313432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A2A39"/>
                </a:solidFill>
                <a:latin typeface="Calibri"/>
              </a:rPr>
              <a:t>Ammonia, urea, small molecules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800600"/>
            <a:ext cx="2331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B998B"/>
                </a:solidFill>
                <a:latin typeface="Calibri"/>
              </a:rPr>
              <a:t>→ CRRT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0712" y="2011680"/>
            <a:ext cx="2697480" cy="329184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  <a:effectLst>
            <a:outerShdw blurRad="90000" dist="40000" dir="5400000" rotWithShape="0">
              <a:srgbClr val="0B254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10712" y="2011680"/>
            <a:ext cx="2697480" cy="7772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11880" y="2157984"/>
            <a:ext cx="2331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FFFFFF"/>
                </a:solidFill>
                <a:latin typeface="Calibri"/>
              </a:rPr>
              <a:t>Protein-bound toxins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2971800"/>
            <a:ext cx="2313432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A2A39"/>
                </a:solidFill>
                <a:latin typeface="Calibri"/>
              </a:rPr>
              <a:t>Bilirubin, bile acids, aromatic amino acids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11880" y="4800600"/>
            <a:ext cx="2331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E8743B"/>
                </a:solidFill>
                <a:latin typeface="Calibri"/>
              </a:rPr>
              <a:t>→ PLEX / albumin dialysis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72784" y="2011680"/>
            <a:ext cx="2697480" cy="329184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  <a:effectLst>
            <a:outerShdw blurRad="90000" dist="40000" dir="5400000" rotWithShape="0">
              <a:srgbClr val="0B254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72784" y="2011680"/>
            <a:ext cx="2697480" cy="777240"/>
          </a:xfrm>
          <a:prstGeom prst="rect">
            <a:avLst/>
          </a:prstGeom>
          <a:solidFill>
            <a:srgbClr val="13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73952" y="2157984"/>
            <a:ext cx="2331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FFFFFF"/>
                </a:solidFill>
                <a:latin typeface="Calibri"/>
              </a:rPr>
              <a:t>Inflammatory mediators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3952" y="2971800"/>
            <a:ext cx="2313432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A2A39"/>
                </a:solidFill>
                <a:latin typeface="Calibri"/>
              </a:rPr>
              <a:t>Cytokines, DAMPs, chemokines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3952" y="4800600"/>
            <a:ext cx="2331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3335C"/>
                </a:solidFill>
                <a:latin typeface="Calibri"/>
              </a:rPr>
              <a:t>→ PLEX (immune reset)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34856" y="2011680"/>
            <a:ext cx="2697480" cy="329184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  <a:effectLst>
            <a:outerShdw blurRad="90000" dist="40000" dir="5400000" rotWithShape="0">
              <a:srgbClr val="0B254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34856" y="2011680"/>
            <a:ext cx="2697480" cy="777240"/>
          </a:xfrm>
          <a:prstGeom prst="rect">
            <a:avLst/>
          </a:prstGeom>
          <a:solidFill>
            <a:srgbClr val="F4A2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36024" y="2157984"/>
            <a:ext cx="2331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FFFFFF"/>
                </a:solidFill>
                <a:latin typeface="Calibri"/>
              </a:rPr>
              <a:t>Missing factors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36024" y="2971800"/>
            <a:ext cx="2313432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A2A39"/>
                </a:solidFill>
                <a:latin typeface="Calibri"/>
              </a:rPr>
              <a:t>Coagulation factors, albumin, opsonins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36024" y="4800600"/>
            <a:ext cx="2331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4A259"/>
                </a:solidFill>
                <a:latin typeface="Calibri"/>
              </a:rPr>
              <a:t>→ PLEX replaces them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55321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E8743B"/>
                </a:solidFill>
                <a:latin typeface="Calibri"/>
              </a:rPr>
              <a:t>Key idea:  </a:t>
            </a:r>
            <a:r>
              <a:rPr sz="1500" b="0" i="0">
                <a:solidFill>
                  <a:srgbClr val="0B2545"/>
                </a:solidFill>
                <a:latin typeface="Calibri"/>
              </a:rPr>
              <a:t>no single device replaces the liver — modalities are combined to cover different toxin classes.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310896" cy="64008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9264" y="3657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B998B"/>
                </a:solidFill>
                <a:latin typeface="Calibri"/>
              </a:rPr>
              <a:t>CLASSIFICATION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86384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0B2545"/>
                </a:solidFill>
                <a:latin typeface="Calibri"/>
              </a:rPr>
              <a:t>A mechanistic map of the options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C6B7A"/>
                </a:solidFill>
                <a:latin typeface="Calibri"/>
              </a:rPr>
              <a:t>Role of Liver Support Systems in the ICU  •  Peri-Transplant Setting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008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5C6B7A"/>
                </a:solidFill>
                <a:latin typeface="Calibri"/>
              </a:rPr>
              <a:t>10</a:t>
            </a:r>
          </a:p>
        </p:txBody>
      </p:sp>
      <p:pic>
        <p:nvPicPr>
          <p:cNvPr id="8" name="Picture 7" descr="11_modality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1720" y="1828800"/>
            <a:ext cx="7448395" cy="40690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603504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1">
                <a:solidFill>
                  <a:srgbClr val="5C6B7A"/>
                </a:solidFill>
                <a:latin typeface="Calibri"/>
              </a:rPr>
              <a:t>Artificial (cell-free): CRRT, PLEX, MARS, Prometheus    •    Bioartificial (cell-based): the emerging frontier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377440"/>
            <a:ext cx="822960" cy="914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E8743B"/>
                </a:solidFill>
                <a:latin typeface="Calibri"/>
              </a:rPr>
              <a:t>MODALITY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748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CRRT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20624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E6ECF2"/>
                </a:solidFill>
                <a:latin typeface="Calibri"/>
              </a:rPr>
              <a:t>Continuous renal replacement therapy — the metabolic workhorse of the liver ICU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008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5C6B7A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310896" cy="64008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9264" y="3657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B998B"/>
                </a:solidFill>
                <a:latin typeface="Calibri"/>
              </a:rPr>
              <a:t>CRRT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86384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0B2545"/>
                </a:solidFill>
                <a:latin typeface="Calibri"/>
              </a:rPr>
              <a:t>Principles &amp; indications in liver failure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C6B7A"/>
                </a:solidFill>
                <a:latin typeface="Calibri"/>
              </a:rPr>
              <a:t>Role of Liver Support Systems in the ICU  •  Peri-Transplant Setting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008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5C6B7A"/>
                </a:solidFill>
                <a:latin typeface="Calibri"/>
              </a:rPr>
              <a:t>12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2057400"/>
            <a:ext cx="118872" cy="118872"/>
          </a:xfrm>
          <a:prstGeom prst="ellipse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0976" y="1965960"/>
            <a:ext cx="554126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0B2545"/>
                </a:solidFill>
                <a:latin typeface="Calibri"/>
              </a:rPr>
              <a:t>Continuous &amp; gentle —  </a:t>
            </a:r>
            <a:r>
              <a:rPr sz="1550" b="0" i="0">
                <a:solidFill>
                  <a:srgbClr val="1A2A39"/>
                </a:solidFill>
                <a:latin typeface="Calibri"/>
              </a:rPr>
              <a:t>slow solute removal suits the haemodynamically fragile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807208"/>
            <a:ext cx="118872" cy="118872"/>
          </a:xfrm>
          <a:prstGeom prst="ellipse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2715768"/>
            <a:ext cx="554126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0B2545"/>
                </a:solidFill>
                <a:latin typeface="Calibri"/>
              </a:rPr>
              <a:t>Ammonia control —  </a:t>
            </a:r>
            <a:r>
              <a:rPr sz="1550" b="0" i="0">
                <a:solidFill>
                  <a:srgbClr val="1A2A39"/>
                </a:solidFill>
                <a:latin typeface="Calibri"/>
              </a:rPr>
              <a:t>the key non-renal indication in ALF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3557016"/>
            <a:ext cx="118872" cy="118872"/>
          </a:xfrm>
          <a:prstGeom prst="ellipse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0976" y="3465576"/>
            <a:ext cx="554126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0B2545"/>
                </a:solidFill>
                <a:latin typeface="Calibri"/>
              </a:rPr>
              <a:t>Avoids ICP swings —  </a:t>
            </a:r>
            <a:r>
              <a:rPr sz="1550" b="0" i="0">
                <a:solidFill>
                  <a:srgbClr val="1A2A39"/>
                </a:solidFill>
                <a:latin typeface="Calibri"/>
              </a:rPr>
              <a:t>preferred over intermittent HD in cerebral oedema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4306824"/>
            <a:ext cx="118872" cy="118872"/>
          </a:xfrm>
          <a:prstGeom prst="ellipse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0976" y="4215384"/>
            <a:ext cx="554126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0B2545"/>
                </a:solidFill>
                <a:latin typeface="Calibri"/>
              </a:rPr>
              <a:t>Manages AKI / HRS —  </a:t>
            </a:r>
            <a:r>
              <a:rPr sz="1550" b="0" i="0">
                <a:solidFill>
                  <a:srgbClr val="1A2A39"/>
                </a:solidFill>
                <a:latin typeface="Calibri"/>
              </a:rPr>
              <a:t>fluid, acid-base &amp; electrolyte control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5056632"/>
            <a:ext cx="118872" cy="118872"/>
          </a:xfrm>
          <a:prstGeom prst="ellipse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" y="4965192"/>
            <a:ext cx="554126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0B2545"/>
                </a:solidFill>
                <a:latin typeface="Calibri"/>
              </a:rPr>
              <a:t>Platform for combination —  </a:t>
            </a:r>
            <a:r>
              <a:rPr sz="1550" b="0" i="0">
                <a:solidFill>
                  <a:srgbClr val="1A2A39"/>
                </a:solidFill>
                <a:latin typeface="Calibri"/>
              </a:rPr>
              <a:t>runs alongside PLEX in many protocols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40880" y="1965960"/>
            <a:ext cx="4572000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ffectLst>
            <a:outerShdw blurRad="90000" dist="40000" dir="5400000" rotWithShape="0">
              <a:srgbClr val="0B254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040880" y="1965960"/>
            <a:ext cx="91440" cy="137160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96912" y="2130552"/>
            <a:ext cx="4206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 i="0">
                <a:solidFill>
                  <a:srgbClr val="E8743B"/>
                </a:solidFill>
                <a:latin typeface="Calibri"/>
              </a:rPr>
              <a:t>Start early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2624328"/>
            <a:ext cx="4114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5C6B7A"/>
                </a:solidFill>
                <a:latin typeface="Calibri"/>
              </a:rPr>
              <a:t>CRRT is often begun BEFORE stage-3 AKI — to control ammonia, not just for the kidneys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040880" y="3520440"/>
            <a:ext cx="4572000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ffectLst>
            <a:outerShdw blurRad="90000" dist="40000" dir="5400000" rotWithShape="0">
              <a:srgbClr val="0B254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040880" y="3520440"/>
            <a:ext cx="91440" cy="13716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96912" y="3685032"/>
            <a:ext cx="4206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 i="0">
                <a:solidFill>
                  <a:srgbClr val="1B998B"/>
                </a:solidFill>
                <a:latin typeface="Calibri"/>
              </a:rPr>
              <a:t>CVVHDF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4178808"/>
            <a:ext cx="4114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5C6B7A"/>
                </a:solidFill>
                <a:latin typeface="Calibri"/>
              </a:rPr>
              <a:t>High-flow continuous veno-venous haemodiafiltration maximises ammonia clearance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5074920"/>
            <a:ext cx="4572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0B2545"/>
                </a:solidFill>
                <a:latin typeface="Calibri"/>
              </a:rPr>
              <a:t>Ammonia clearance is lower than urea/creatinine </a:t>
            </a:r>
            <a:r>
              <a:rPr sz="1450" b="0" i="0">
                <a:solidFill>
                  <a:srgbClr val="1A2A39"/>
                </a:solidFill>
                <a:latin typeface="Calibri"/>
              </a:rPr>
              <a:t>→ higher effluent doses are used in hyperammonaemia.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310896" cy="64008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9264" y="3657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B998B"/>
                </a:solidFill>
                <a:latin typeface="Calibri"/>
              </a:rPr>
              <a:t>CRRT •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86384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0B2545"/>
                </a:solidFill>
                <a:latin typeface="Calibri"/>
              </a:rPr>
              <a:t>Controlling ammonia changes outcomes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C6B7A"/>
                </a:solidFill>
                <a:latin typeface="Calibri"/>
              </a:rPr>
              <a:t>Role of Liver Support Systems in the ICU  •  Peri-Transplant Setting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008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5C6B7A"/>
                </a:solidFill>
                <a:latin typeface="Calibri"/>
              </a:rPr>
              <a:t>13</a:t>
            </a:r>
          </a:p>
        </p:txBody>
      </p:sp>
      <p:pic>
        <p:nvPicPr>
          <p:cNvPr id="8" name="Picture 7" descr="08_crrt_ammon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7040880" cy="461893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72400" y="2011680"/>
            <a:ext cx="3840480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ffectLst>
            <a:outerShdw blurRad="90000" dist="40000" dir="5400000" rotWithShape="0">
              <a:srgbClr val="0B254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0" y="2011680"/>
            <a:ext cx="91440" cy="13716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28432" y="2176272"/>
            <a:ext cx="3474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 i="0">
                <a:solidFill>
                  <a:srgbClr val="1B998B"/>
                </a:solidFill>
                <a:latin typeface="Calibri"/>
              </a:rPr>
              <a:t>84%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2670048"/>
            <a:ext cx="3383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5C6B7A"/>
                </a:solidFill>
                <a:latin typeface="Calibri"/>
              </a:rPr>
              <a:t>Achieved control of extreme hyperammonaemia (&gt;140 µmol/L) after day 1 with CRRT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0" y="3566160"/>
            <a:ext cx="3840480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ffectLst>
            <a:outerShdw blurRad="90000" dist="40000" dir="5400000" rotWithShape="0">
              <a:srgbClr val="0B254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0" y="3566160"/>
            <a:ext cx="91440" cy="137160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28432" y="3730752"/>
            <a:ext cx="3474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 i="0">
                <a:solidFill>
                  <a:srgbClr val="E8743B"/>
                </a:solidFill>
                <a:latin typeface="Calibri"/>
              </a:rPr>
              <a:t>4×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4224528"/>
            <a:ext cx="3383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5C6B7A"/>
                </a:solidFill>
                <a:latin typeface="Calibri"/>
              </a:rPr>
              <a:t>Higher transplant-free survival when extreme hyperammonaemia was prevented (55% vs 13%)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310896" cy="64008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9264" y="3657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B998B"/>
                </a:solidFill>
                <a:latin typeface="Calibri"/>
              </a:rPr>
              <a:t>CRRT • INSIGHT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86384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0B2545"/>
                </a:solidFill>
                <a:latin typeface="Calibri"/>
              </a:rPr>
              <a:t>Often a metabolic therapy, not a renal 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C6B7A"/>
                </a:solidFill>
                <a:latin typeface="Calibri"/>
              </a:rPr>
              <a:t>Role of Liver Support Systems in the ICU  •  Peri-Transplant Setting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008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5C6B7A"/>
                </a:solidFill>
                <a:latin typeface="Calibri"/>
              </a:rPr>
              <a:t>14</a:t>
            </a:r>
          </a:p>
        </p:txBody>
      </p:sp>
      <p:pic>
        <p:nvPicPr>
          <p:cNvPr id="8" name="Picture 7" descr="09_crrt_indi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83080"/>
            <a:ext cx="6035040" cy="3681657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6949440" y="2286000"/>
            <a:ext cx="118872" cy="118872"/>
          </a:xfrm>
          <a:prstGeom prst="ellipse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60336" y="2194560"/>
            <a:ext cx="435254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0B2545"/>
                </a:solidFill>
                <a:latin typeface="Calibri"/>
              </a:rPr>
              <a:t>Three-quarters started  </a:t>
            </a:r>
            <a:r>
              <a:rPr sz="1500" b="0" i="0">
                <a:solidFill>
                  <a:srgbClr val="1A2A39"/>
                </a:solidFill>
                <a:latin typeface="Calibri"/>
              </a:rPr>
              <a:t>without stage-3 AKI — driven by ammonia &amp; encephalopathy</a:t>
            </a:r>
          </a:p>
        </p:txBody>
      </p:sp>
      <p:sp>
        <p:nvSpPr>
          <p:cNvPr id="11" name="Oval 10"/>
          <p:cNvSpPr/>
          <p:nvPr/>
        </p:nvSpPr>
        <p:spPr>
          <a:xfrm>
            <a:off x="6949440" y="3246120"/>
            <a:ext cx="118872" cy="118872"/>
          </a:xfrm>
          <a:prstGeom prst="ellipse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60336" y="3154680"/>
            <a:ext cx="435254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0B2545"/>
                </a:solidFill>
                <a:latin typeface="Calibri"/>
              </a:rPr>
              <a:t>Neuroprotection  </a:t>
            </a:r>
            <a:r>
              <a:rPr sz="1500" b="0" i="0">
                <a:solidFill>
                  <a:srgbClr val="1A2A39"/>
                </a:solidFill>
                <a:latin typeface="Calibri"/>
              </a:rPr>
              <a:t>lowering ammonia reduces intracranial hypertension risk</a:t>
            </a:r>
          </a:p>
        </p:txBody>
      </p:sp>
      <p:sp>
        <p:nvSpPr>
          <p:cNvPr id="13" name="Oval 12"/>
          <p:cNvSpPr/>
          <p:nvPr/>
        </p:nvSpPr>
        <p:spPr>
          <a:xfrm>
            <a:off x="6949440" y="4206240"/>
            <a:ext cx="118872" cy="118872"/>
          </a:xfrm>
          <a:prstGeom prst="ellipse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60336" y="4114800"/>
            <a:ext cx="435254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0B2545"/>
                </a:solidFill>
                <a:latin typeface="Calibri"/>
              </a:rPr>
              <a:t>Peri-transplant  </a:t>
            </a:r>
            <a:r>
              <a:rPr sz="1500" b="0" i="0">
                <a:solidFill>
                  <a:srgbClr val="1A2A39"/>
                </a:solidFill>
                <a:latin typeface="Calibri"/>
              </a:rPr>
              <a:t>stabilises HRS and volume status before / after graft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377440"/>
            <a:ext cx="822960" cy="9144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B998B"/>
                </a:solidFill>
                <a:latin typeface="Calibri"/>
              </a:rPr>
              <a:t>MODALITY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748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Plasma exchange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20624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E6ECF2"/>
                </a:solidFill>
                <a:latin typeface="Calibri"/>
              </a:rPr>
              <a:t>Therapeutic plasma exchange (PLEX / TPE) — the strongest survival evidence to date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008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5C6B7A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310896" cy="64008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9264" y="3657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B998B"/>
                </a:solidFill>
                <a:latin typeface="Calibri"/>
              </a:rPr>
              <a:t>PLEX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86384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0B2545"/>
                </a:solidFill>
                <a:latin typeface="Calibri"/>
              </a:rPr>
              <a:t>One therapy, three simultaneous actions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C6B7A"/>
                </a:solidFill>
                <a:latin typeface="Calibri"/>
              </a:rPr>
              <a:t>Role of Liver Support Systems in the ICU  •  Peri-Transplant Setting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008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5C6B7A"/>
                </a:solidFill>
                <a:latin typeface="Calibri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103120"/>
            <a:ext cx="3520440" cy="265176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  <a:effectLst>
            <a:outerShdw blurRad="90000" dist="40000" dir="5400000" rotWithShape="0">
              <a:srgbClr val="0B254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103120"/>
            <a:ext cx="3520440" cy="86868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249424"/>
            <a:ext cx="3520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REMOVE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3200400"/>
            <a:ext cx="3008376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0" i="0">
                <a:solidFill>
                  <a:srgbClr val="1A2A39"/>
                </a:solidFill>
                <a:latin typeface="Calibri"/>
              </a:rPr>
              <a:t>Clears protein-bound toxins, bilirubin, bile acids &amp; aromatic amino acids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16552" y="2103120"/>
            <a:ext cx="3520440" cy="265176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  <a:effectLst>
            <a:outerShdw blurRad="90000" dist="40000" dir="5400000" rotWithShape="0">
              <a:srgbClr val="0B254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16552" y="2103120"/>
            <a:ext cx="3520440" cy="86868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16552" y="2249424"/>
            <a:ext cx="3520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REPLACE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2584" y="3200400"/>
            <a:ext cx="3008376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0" i="0">
                <a:solidFill>
                  <a:srgbClr val="1A2A39"/>
                </a:solidFill>
                <a:latin typeface="Calibri"/>
              </a:rPr>
              <a:t>Restores coagulation factors, albumin &amp; opsonins via fresh plasma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93024" y="2103120"/>
            <a:ext cx="3520440" cy="265176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  <a:effectLst>
            <a:outerShdw blurRad="90000" dist="40000" dir="5400000" rotWithShape="0">
              <a:srgbClr val="0B254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93024" y="2103120"/>
            <a:ext cx="3520440" cy="868680"/>
          </a:xfrm>
          <a:prstGeom prst="rect">
            <a:avLst/>
          </a:prstGeom>
          <a:solidFill>
            <a:srgbClr val="13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93024" y="2249424"/>
            <a:ext cx="3520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RESET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49056" y="3200400"/>
            <a:ext cx="3008376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0" i="0">
                <a:solidFill>
                  <a:srgbClr val="1A2A39"/>
                </a:solidFill>
                <a:latin typeface="Calibri"/>
              </a:rPr>
              <a:t>Dampens the cytokine / DAMP-driven inflammatory storm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02920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B2545"/>
                </a:solidFill>
                <a:latin typeface="Calibri"/>
              </a:rPr>
              <a:t>Unlike CRRT or albumin dialysis, PLEX is the only modality that simultaneously detoxifies, replaces synthetic function and modulates immunity — </a:t>
            </a:r>
            <a:r>
              <a:rPr sz="1600" b="0" i="0">
                <a:solidFill>
                  <a:srgbClr val="1A2A39"/>
                </a:solidFill>
                <a:latin typeface="Calibri"/>
              </a:rPr>
              <a:t>which likely explains its survival signal.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310896" cy="64008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9264" y="3657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B998B"/>
                </a:solidFill>
                <a:latin typeface="Calibri"/>
              </a:rPr>
              <a:t>PLEX • LANDMARK TRIAL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86384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0B2545"/>
                </a:solidFill>
                <a:latin typeface="Calibri"/>
              </a:rPr>
              <a:t>High-volume PLEX improves survival in ALF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C6B7A"/>
                </a:solidFill>
                <a:latin typeface="Calibri"/>
              </a:rPr>
              <a:t>Role of Liver Support Systems in the ICU  •  Peri-Transplant Setting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008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5C6B7A"/>
                </a:solidFill>
                <a:latin typeface="Calibri"/>
              </a:rPr>
              <a:t>17</a:t>
            </a:r>
          </a:p>
        </p:txBody>
      </p:sp>
      <p:pic>
        <p:nvPicPr>
          <p:cNvPr id="8" name="Picture 7" descr="04_larsen_r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6583680" cy="4313994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7406640" y="2194560"/>
            <a:ext cx="118872" cy="118872"/>
          </a:xfrm>
          <a:prstGeom prst="ellipse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17536" y="2103120"/>
            <a:ext cx="398678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0B2545"/>
                </a:solidFill>
                <a:latin typeface="Calibri"/>
              </a:rPr>
              <a:t>First RCT of PLEX in ALF  </a:t>
            </a:r>
            <a:r>
              <a:rPr sz="1450" b="0" i="0">
                <a:solidFill>
                  <a:srgbClr val="1A2A39"/>
                </a:solidFill>
                <a:latin typeface="Calibri"/>
              </a:rPr>
              <a:t>182 patients; J Hepatol 2016</a:t>
            </a:r>
          </a:p>
        </p:txBody>
      </p:sp>
      <p:sp>
        <p:nvSpPr>
          <p:cNvPr id="11" name="Oval 10"/>
          <p:cNvSpPr/>
          <p:nvPr/>
        </p:nvSpPr>
        <p:spPr>
          <a:xfrm>
            <a:off x="7406640" y="3108960"/>
            <a:ext cx="118872" cy="118872"/>
          </a:xfrm>
          <a:prstGeom prst="ellipse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17536" y="3017520"/>
            <a:ext cx="398678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0B2545"/>
                </a:solidFill>
                <a:latin typeface="Calibri"/>
              </a:rPr>
              <a:t>+11% absolute survival  </a:t>
            </a:r>
            <a:r>
              <a:rPr sz="1450" b="0" i="0">
                <a:solidFill>
                  <a:srgbClr val="1A2A39"/>
                </a:solidFill>
                <a:latin typeface="Calibri"/>
              </a:rPr>
              <a:t>transplant-free survival vs standard care</a:t>
            </a:r>
          </a:p>
        </p:txBody>
      </p:sp>
      <p:sp>
        <p:nvSpPr>
          <p:cNvPr id="13" name="Oval 12"/>
          <p:cNvSpPr/>
          <p:nvPr/>
        </p:nvSpPr>
        <p:spPr>
          <a:xfrm>
            <a:off x="7406640" y="4023360"/>
            <a:ext cx="118872" cy="118872"/>
          </a:xfrm>
          <a:prstGeom prst="ellipse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17536" y="3931920"/>
            <a:ext cx="398678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0B2545"/>
                </a:solidFill>
                <a:latin typeface="Calibri"/>
              </a:rPr>
              <a:t>Mechanism confirmed  </a:t>
            </a:r>
            <a:r>
              <a:rPr sz="1450" b="0" i="0">
                <a:solidFill>
                  <a:srgbClr val="1A2A39"/>
                </a:solidFill>
                <a:latin typeface="Calibri"/>
              </a:rPr>
              <a:t>attenuated innate immune activation</a:t>
            </a:r>
          </a:p>
        </p:txBody>
      </p:sp>
      <p:sp>
        <p:nvSpPr>
          <p:cNvPr id="15" name="Oval 14"/>
          <p:cNvSpPr/>
          <p:nvPr/>
        </p:nvSpPr>
        <p:spPr>
          <a:xfrm>
            <a:off x="7406640" y="4937760"/>
            <a:ext cx="118872" cy="118872"/>
          </a:xfrm>
          <a:prstGeom prst="ellipse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17536" y="4846320"/>
            <a:ext cx="398678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0B2545"/>
                </a:solidFill>
                <a:latin typeface="Calibri"/>
              </a:rPr>
              <a:t>Now in EASL guidance  </a:t>
            </a:r>
            <a:r>
              <a:rPr sz="1450" b="0" i="0">
                <a:solidFill>
                  <a:srgbClr val="1A2A39"/>
                </a:solidFill>
                <a:latin typeface="Calibri"/>
              </a:rPr>
              <a:t>Level I, Grade 1 recommendation for ALF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310896" cy="64008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9264" y="3657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B998B"/>
                </a:solidFill>
                <a:latin typeface="Calibri"/>
              </a:rPr>
              <a:t>PLEX • REFINEMENT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86384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0B2545"/>
                </a:solidFill>
                <a:latin typeface="Calibri"/>
              </a:rPr>
              <a:t>Standard-volume PLEX may be enough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C6B7A"/>
                </a:solidFill>
                <a:latin typeface="Calibri"/>
              </a:rPr>
              <a:t>Role of Liver Support Systems in the ICU  •  Peri-Transplant Setting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008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5C6B7A"/>
                </a:solidFill>
                <a:latin typeface="Calibri"/>
              </a:rPr>
              <a:t>18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2103120"/>
            <a:ext cx="118872" cy="118872"/>
          </a:xfrm>
          <a:prstGeom prst="ellipse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0976" y="2011680"/>
            <a:ext cx="10479024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B2545"/>
                </a:solidFill>
                <a:latin typeface="Calibri"/>
              </a:rPr>
              <a:t>High-volume PLEX (HVP) —  </a:t>
            </a:r>
            <a:r>
              <a:rPr sz="1600" b="0" i="0">
                <a:solidFill>
                  <a:srgbClr val="1A2A39"/>
                </a:solidFill>
                <a:latin typeface="Calibri"/>
              </a:rPr>
              <a:t>8–12 L/day exchange established the survival benefit in the landmark trial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971800"/>
            <a:ext cx="118872" cy="118872"/>
          </a:xfrm>
          <a:prstGeom prst="ellipse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2880360"/>
            <a:ext cx="10479024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B2545"/>
                </a:solidFill>
                <a:latin typeface="Calibri"/>
              </a:rPr>
              <a:t>Standard-volume PLEX —  </a:t>
            </a:r>
            <a:r>
              <a:rPr sz="1600" b="0" i="0">
                <a:solidFill>
                  <a:srgbClr val="1A2A39"/>
                </a:solidFill>
                <a:latin typeface="Calibri"/>
              </a:rPr>
              <a:t>a later RCT showed comparable improvement in outcomes with less plasma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3840480"/>
            <a:ext cx="118872" cy="118872"/>
          </a:xfrm>
          <a:prstGeom prst="ellipse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0976" y="3749040"/>
            <a:ext cx="10479024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B2545"/>
                </a:solidFill>
                <a:latin typeface="Calibri"/>
              </a:rPr>
              <a:t>Practical implications —  </a:t>
            </a:r>
            <a:r>
              <a:rPr sz="1600" b="0" i="0">
                <a:solidFill>
                  <a:srgbClr val="1A2A39"/>
                </a:solidFill>
                <a:latin typeface="Calibri"/>
              </a:rPr>
              <a:t>lower plasma requirement, fewer resources, better feasibility in most ICUs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4709159"/>
            <a:ext cx="118872" cy="118872"/>
          </a:xfrm>
          <a:prstGeom prst="ellipse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0976" y="4617719"/>
            <a:ext cx="10479024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B2545"/>
                </a:solidFill>
                <a:latin typeface="Calibri"/>
              </a:rPr>
              <a:t>Timing is critical —  </a:t>
            </a:r>
            <a:r>
              <a:rPr sz="1600" b="0" i="0">
                <a:solidFill>
                  <a:srgbClr val="1A2A39"/>
                </a:solidFill>
                <a:latin typeface="Calibri"/>
              </a:rPr>
              <a:t>earlier initiation is associated with better response — 'the battle can be lost if late'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760720"/>
            <a:ext cx="10881360" cy="77724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  <a:effectLst>
            <a:outerShdw blurRad="90000" dist="40000" dir="5400000" rotWithShape="0">
              <a:srgbClr val="0B254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5907024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E8743B"/>
                </a:solidFill>
                <a:latin typeface="Calibri"/>
              </a:rPr>
              <a:t>Take-home:  </a:t>
            </a:r>
            <a:r>
              <a:rPr sz="1550" b="0" i="0">
                <a:solidFill>
                  <a:srgbClr val="0B2545"/>
                </a:solidFill>
                <a:latin typeface="Calibri"/>
              </a:rPr>
              <a:t>efficacy is robust across HVP and standard-volume protocols — favour earlier, resource-appropriate PLEX.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310896" cy="64008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9264" y="3657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B998B"/>
                </a:solidFill>
                <a:latin typeface="Calibri"/>
              </a:rPr>
              <a:t>PLEX • ACLF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86384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0B2545"/>
                </a:solidFill>
                <a:latin typeface="Calibri"/>
              </a:rPr>
              <a:t>Mortality benefit out to one year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C6B7A"/>
                </a:solidFill>
                <a:latin typeface="Calibri"/>
              </a:rPr>
              <a:t>Role of Liver Support Systems in the ICU  •  Peri-Transplant Setting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008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5C6B7A"/>
                </a:solidFill>
                <a:latin typeface="Calibri"/>
              </a:rPr>
              <a:t>19</a:t>
            </a:r>
          </a:p>
        </p:txBody>
      </p:sp>
      <p:pic>
        <p:nvPicPr>
          <p:cNvPr id="8" name="Picture 7" descr="05_aclf_me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7680960" cy="4888147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321040" y="2011680"/>
            <a:ext cx="3291840" cy="1325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ffectLst>
            <a:outerShdw blurRad="90000" dist="40000" dir="5400000" rotWithShape="0">
              <a:srgbClr val="0B254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321040" y="2011680"/>
            <a:ext cx="91440" cy="132588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77072" y="2176272"/>
            <a:ext cx="2926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 i="0">
                <a:solidFill>
                  <a:srgbClr val="1B998B"/>
                </a:solidFill>
                <a:latin typeface="Calibri"/>
              </a:rPr>
              <a:t>5,336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0" y="2624328"/>
            <a:ext cx="2834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5C6B7A"/>
                </a:solidFill>
                <a:latin typeface="Calibri"/>
              </a:rPr>
              <a:t>ACLF patients across 23 studies in the pooled analysis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321040" y="3474720"/>
            <a:ext cx="3291840" cy="1325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ffectLst>
            <a:outerShdw blurRad="90000" dist="40000" dir="5400000" rotWithShape="0">
              <a:srgbClr val="0B254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321040" y="3474720"/>
            <a:ext cx="91440" cy="132588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77072" y="3639312"/>
            <a:ext cx="2926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 i="0">
                <a:solidFill>
                  <a:srgbClr val="E8743B"/>
                </a:solidFill>
                <a:latin typeface="Calibri"/>
              </a:rPr>
              <a:t>30% 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4087368"/>
            <a:ext cx="2834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5C6B7A"/>
                </a:solidFill>
                <a:latin typeface="Calibri"/>
              </a:rPr>
              <a:t>Relative risk of death at 30 days with PLEX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321040" y="4937760"/>
            <a:ext cx="3291840" cy="1188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ffectLst>
            <a:outerShdw blurRad="90000" dist="40000" dir="5400000" rotWithShape="0">
              <a:srgbClr val="0B254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321040" y="4937760"/>
            <a:ext cx="91440" cy="1188720"/>
          </a:xfrm>
          <a:prstGeom prst="rect">
            <a:avLst/>
          </a:prstGeom>
          <a:solidFill>
            <a:srgbClr val="13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77072" y="5102352"/>
            <a:ext cx="2926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 i="0">
                <a:solidFill>
                  <a:srgbClr val="13335C"/>
                </a:solidFill>
                <a:latin typeface="Calibri"/>
              </a:rPr>
              <a:t>Golden 2 wks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5413248"/>
            <a:ext cx="2834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5C6B7A"/>
                </a:solidFill>
                <a:latin typeface="Calibri"/>
              </a:rPr>
              <a:t>APASL window for early TPE in ACLF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310896" cy="64008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9264" y="3657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B998B"/>
                </a:solidFill>
                <a:latin typeface="Calibri"/>
              </a:rPr>
              <a:t>PLEX • SUBGROUPS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86384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0B2545"/>
                </a:solidFill>
                <a:latin typeface="Calibri"/>
              </a:rPr>
              <a:t>Consistent across major aetiologies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C6B7A"/>
                </a:solidFill>
                <a:latin typeface="Calibri"/>
              </a:rPr>
              <a:t>Role of Liver Support Systems in the ICU  •  Peri-Transplant Setting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008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5C6B7A"/>
                </a:solidFill>
                <a:latin typeface="Calibri"/>
              </a:rPr>
              <a:t>20</a:t>
            </a:r>
          </a:p>
        </p:txBody>
      </p:sp>
      <p:pic>
        <p:nvPicPr>
          <p:cNvPr id="8" name="Picture 7" descr="06_plex_etio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28800"/>
            <a:ext cx="7315200" cy="416468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229600" y="2194560"/>
            <a:ext cx="3474720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2A39"/>
                </a:solidFill>
                <a:latin typeface="Calibri"/>
              </a:rPr>
              <a:t>Benefit is seen in HBV- and alcohol-related ACLF, and a 2024 multicentre cohort reported </a:t>
            </a:r>
            <a:r>
              <a:rPr sz="1500" b="1" i="0">
                <a:solidFill>
                  <a:srgbClr val="E8743B"/>
                </a:solidFill>
                <a:latin typeface="Calibri"/>
              </a:rPr>
              <a:t>78% one-month transplant-free survival </a:t>
            </a:r>
            <a:r>
              <a:rPr sz="1500" b="0" i="0">
                <a:solidFill>
                  <a:srgbClr val="1A2A39"/>
                </a:solidFill>
                <a:latin typeface="Calibri"/>
              </a:rPr>
              <a:t>in severe alcoholic hepatitis treated with PLEX.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310896" cy="64008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9264" y="3657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B998B"/>
                </a:solidFill>
                <a:latin typeface="Calibri"/>
              </a:rPr>
              <a:t>PLEX • PERI-TRANSPLANT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86384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0B2545"/>
                </a:solidFill>
                <a:latin typeface="Calibri"/>
              </a:rPr>
              <a:t>PLEX as a bridge to transplantation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C6B7A"/>
                </a:solidFill>
                <a:latin typeface="Calibri"/>
              </a:rPr>
              <a:t>Role of Liver Support Systems in the ICU  •  Peri-Transplant Setting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008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5C6B7A"/>
                </a:solidFill>
                <a:latin typeface="Calibri"/>
              </a:rPr>
              <a:t>21</a:t>
            </a:r>
          </a:p>
        </p:txBody>
      </p:sp>
      <p:pic>
        <p:nvPicPr>
          <p:cNvPr id="8" name="Picture 7" descr="07_bri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6400800" cy="4405601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7315200" y="2194560"/>
            <a:ext cx="118872" cy="118872"/>
          </a:xfrm>
          <a:prstGeom prst="ellipse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26096" y="2103120"/>
            <a:ext cx="407822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0B2545"/>
                </a:solidFill>
                <a:latin typeface="Calibri"/>
              </a:rPr>
              <a:t>Keeps candidates viable  </a:t>
            </a:r>
            <a:r>
              <a:rPr sz="1450" b="0" i="0">
                <a:solidFill>
                  <a:srgbClr val="1A2A39"/>
                </a:solidFill>
                <a:latin typeface="Calibri"/>
              </a:rPr>
              <a:t>controls HE, coagulopathy &amp; inflammation while waiting</a:t>
            </a:r>
          </a:p>
        </p:txBody>
      </p:sp>
      <p:sp>
        <p:nvSpPr>
          <p:cNvPr id="11" name="Oval 10"/>
          <p:cNvSpPr/>
          <p:nvPr/>
        </p:nvSpPr>
        <p:spPr>
          <a:xfrm>
            <a:off x="7315200" y="3108960"/>
            <a:ext cx="118872" cy="118872"/>
          </a:xfrm>
          <a:prstGeom prst="ellipse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26096" y="3017520"/>
            <a:ext cx="407822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0B2545"/>
                </a:solidFill>
                <a:latin typeface="Calibri"/>
              </a:rPr>
              <a:t>65% lower 30-day mortality  </a:t>
            </a:r>
            <a:r>
              <a:rPr sz="1450" b="0" i="0">
                <a:solidFill>
                  <a:srgbClr val="1A2A39"/>
                </a:solidFill>
                <a:latin typeface="Calibri"/>
              </a:rPr>
              <a:t>in transplant candidates vs non-candidates (p=0.024)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0" y="4023360"/>
            <a:ext cx="118872" cy="118872"/>
          </a:xfrm>
          <a:prstGeom prst="ellipse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26096" y="3931920"/>
            <a:ext cx="407822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0B2545"/>
                </a:solidFill>
                <a:latin typeface="Calibri"/>
              </a:rPr>
              <a:t>ABO-incompatible grafts  </a:t>
            </a:r>
            <a:r>
              <a:rPr sz="1450" b="0" i="0">
                <a:solidFill>
                  <a:srgbClr val="1A2A39"/>
                </a:solidFill>
                <a:latin typeface="Calibri"/>
              </a:rPr>
              <a:t>PLEX lowers isoagglutinin titres peri-operatively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0" y="4937760"/>
            <a:ext cx="118872" cy="118872"/>
          </a:xfrm>
          <a:prstGeom prst="ellipse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6096" y="4846320"/>
            <a:ext cx="407822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0B2545"/>
                </a:solidFill>
                <a:latin typeface="Calibri"/>
              </a:rPr>
              <a:t>Bridge to recovery too  </a:t>
            </a:r>
            <a:r>
              <a:rPr sz="1450" b="0" i="0">
                <a:solidFill>
                  <a:srgbClr val="1A2A39"/>
                </a:solidFill>
                <a:latin typeface="Calibri"/>
              </a:rPr>
              <a:t>buys time for native liver regeneration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377440"/>
            <a:ext cx="822960" cy="91440"/>
          </a:xfrm>
          <a:prstGeom prst="rect">
            <a:avLst/>
          </a:prstGeom>
          <a:solidFill>
            <a:srgbClr val="F4A2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4A259"/>
                </a:solidFill>
                <a:latin typeface="Calibri"/>
              </a:rPr>
              <a:t>MODALITY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748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Albumin dialysis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20624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E6ECF2"/>
                </a:solidFill>
                <a:latin typeface="Calibri"/>
              </a:rPr>
              <a:t>MARS &amp; Prometheus — strong biochemistry, elusive survival benefit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008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5C6B7A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310896" cy="64008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9264" y="3657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B998B"/>
                </a:solidFill>
                <a:latin typeface="Calibri"/>
              </a:rPr>
              <a:t>ALBUMIN DIALYSIS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86384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0B2545"/>
                </a:solidFill>
                <a:latin typeface="Calibri"/>
              </a:rPr>
              <a:t>What the big RCTs taught 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C6B7A"/>
                </a:solidFill>
                <a:latin typeface="Calibri"/>
              </a:rPr>
              <a:t>Role of Liver Support Systems in the ICU  •  Peri-Transplant Setting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008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5C6B7A"/>
                </a:solidFill>
                <a:latin typeface="Calibri"/>
              </a:rPr>
              <a:t>23</a:t>
            </a:r>
          </a:p>
        </p:txBody>
      </p:sp>
      <p:pic>
        <p:nvPicPr>
          <p:cNvPr id="8" name="Picture 7" descr="10_albumin_di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7132320" cy="4230508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7863840" y="2194560"/>
            <a:ext cx="118872" cy="118872"/>
          </a:xfrm>
          <a:prstGeom prst="ellipse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74736" y="2103120"/>
            <a:ext cx="352958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0B2545"/>
                </a:solidFill>
                <a:latin typeface="Calibri"/>
              </a:rPr>
              <a:t>RELIEF (MARS)  </a:t>
            </a:r>
            <a:r>
              <a:rPr sz="1400" b="0" i="0">
                <a:solidFill>
                  <a:srgbClr val="1A2A39"/>
                </a:solidFill>
                <a:latin typeface="Calibri"/>
              </a:rPr>
              <a:t>largest ACLF RCT — no overall survival benefit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0" y="3108960"/>
            <a:ext cx="118872" cy="118872"/>
          </a:xfrm>
          <a:prstGeom prst="ellipse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74736" y="3017520"/>
            <a:ext cx="352958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0B2545"/>
                </a:solidFill>
                <a:latin typeface="Calibri"/>
              </a:rPr>
              <a:t>HELIOS (Prometheus)  </a:t>
            </a:r>
            <a:r>
              <a:rPr sz="1400" b="0" i="0">
                <a:solidFill>
                  <a:srgbClr val="1A2A39"/>
                </a:solidFill>
                <a:latin typeface="Calibri"/>
              </a:rPr>
              <a:t>lower bilirubin, no 28/90-day survival gain</a:t>
            </a:r>
          </a:p>
        </p:txBody>
      </p:sp>
      <p:sp>
        <p:nvSpPr>
          <p:cNvPr id="13" name="Oval 12"/>
          <p:cNvSpPr/>
          <p:nvPr/>
        </p:nvSpPr>
        <p:spPr>
          <a:xfrm>
            <a:off x="7863840" y="4023360"/>
            <a:ext cx="118872" cy="118872"/>
          </a:xfrm>
          <a:prstGeom prst="ellipse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74736" y="3931920"/>
            <a:ext cx="352958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0B2545"/>
                </a:solidFill>
                <a:latin typeface="Calibri"/>
              </a:rPr>
              <a:t>Subgroups benefit  </a:t>
            </a:r>
            <a:r>
              <a:rPr sz="1400" b="0" i="0">
                <a:solidFill>
                  <a:srgbClr val="1A2A39"/>
                </a:solidFill>
                <a:latin typeface="Calibri"/>
              </a:rPr>
              <a:t>HRS-1 and MELD &gt;30 signals</a:t>
            </a:r>
          </a:p>
        </p:txBody>
      </p:sp>
      <p:sp>
        <p:nvSpPr>
          <p:cNvPr id="15" name="Oval 14"/>
          <p:cNvSpPr/>
          <p:nvPr/>
        </p:nvSpPr>
        <p:spPr>
          <a:xfrm>
            <a:off x="7863840" y="4937760"/>
            <a:ext cx="118872" cy="118872"/>
          </a:xfrm>
          <a:prstGeom prst="ellipse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74736" y="4846320"/>
            <a:ext cx="352958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0B2545"/>
                </a:solidFill>
                <a:latin typeface="Calibri"/>
              </a:rPr>
              <a:t>Role today  </a:t>
            </a:r>
            <a:r>
              <a:rPr sz="1400" b="0" i="0">
                <a:solidFill>
                  <a:srgbClr val="1A2A39"/>
                </a:solidFill>
                <a:latin typeface="Calibri"/>
              </a:rPr>
              <a:t>selected refractory cases; pruritus, HE relief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310896" cy="64008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9264" y="3657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B998B"/>
                </a:solidFill>
                <a:latin typeface="Calibri"/>
              </a:rPr>
              <a:t>SYNTHESIS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86384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0B2545"/>
                </a:solidFill>
                <a:latin typeface="Calibri"/>
              </a:rPr>
              <a:t>Choosing the right tool for the patient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C6B7A"/>
                </a:solidFill>
                <a:latin typeface="Calibri"/>
              </a:rPr>
              <a:t>Role of Liver Support Systems in the ICU  •  Peri-Transplant Setting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008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5C6B7A"/>
                </a:solidFill>
                <a:latin typeface="Calibri"/>
              </a:rPr>
              <a:t>24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20240"/>
          <a:ext cx="11064240" cy="37673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200400"/>
                <a:gridCol w="3291840"/>
                <a:gridCol w="228600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Modality</a:t>
                      </a:r>
                    </a:p>
                  </a:txBody>
                  <a:tcPr marL="109728" marR="73152" marT="45720" marB="45720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Best for</a:t>
                      </a:r>
                    </a:p>
                  </a:txBody>
                  <a:tcPr marL="109728" marR="73152" marT="45720" marB="45720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Key evidence</a:t>
                      </a:r>
                    </a:p>
                  </a:txBody>
                  <a:tcPr marL="109728" marR="73152" marT="45720" marB="45720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Peri-transplant role</a:t>
                      </a:r>
                    </a:p>
                  </a:txBody>
                  <a:tcPr marL="109728" marR="73152" marT="45720" marB="45720" anchor="ctr">
                    <a:solidFill>
                      <a:srgbClr val="0B2545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1B998B"/>
                          </a:solidFill>
                          <a:latin typeface="Calibri"/>
                        </a:rPr>
                        <a:t>CRRT</a:t>
                      </a:r>
                    </a:p>
                  </a:txBody>
                  <a:tcPr marL="109728" marR="73152" marT="45720" marB="45720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>
                          <a:solidFill>
                            <a:srgbClr val="1A2A39"/>
                          </a:solidFill>
                          <a:latin typeface="Calibri"/>
                        </a:rPr>
                        <a:t>Ammonia, AKI, ICP, volume</a:t>
                      </a:r>
                    </a:p>
                  </a:txBody>
                  <a:tcPr marL="109728" marR="73152" marT="45720" marB="45720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>
                          <a:solidFill>
                            <a:srgbClr val="1A2A39"/>
                          </a:solidFill>
                          <a:latin typeface="Calibri"/>
                        </a:rPr>
                        <a:t>↑ survival via ammonia control</a:t>
                      </a:r>
                    </a:p>
                  </a:txBody>
                  <a:tcPr marL="109728" marR="73152" marT="45720" marB="45720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>
                          <a:solidFill>
                            <a:srgbClr val="1A2A39"/>
                          </a:solidFill>
                          <a:latin typeface="Calibri"/>
                        </a:rPr>
                        <a:t>Workhorse — pre/post graft</a:t>
                      </a:r>
                    </a:p>
                  </a:txBody>
                  <a:tcPr marL="109728" marR="73152" marT="45720" marB="45720" anchor="ctr">
                    <a:solidFill>
                      <a:srgbClr val="F4F7FA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1B998B"/>
                          </a:solidFill>
                          <a:latin typeface="Calibri"/>
                        </a:rPr>
                        <a:t>PLEX / TPE</a:t>
                      </a:r>
                    </a:p>
                  </a:txBody>
                  <a:tcPr marL="109728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>
                          <a:solidFill>
                            <a:srgbClr val="1A2A39"/>
                          </a:solidFill>
                          <a:latin typeface="Calibri"/>
                        </a:rPr>
                        <a:t>Toxins + immunity + factors</a:t>
                      </a:r>
                    </a:p>
                  </a:txBody>
                  <a:tcPr marL="109728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>
                          <a:solidFill>
                            <a:srgbClr val="1A2A39"/>
                          </a:solidFill>
                          <a:latin typeface="Calibri"/>
                        </a:rPr>
                        <a:t>RCT &amp; meta-analysis survival benefit</a:t>
                      </a:r>
                    </a:p>
                  </a:txBody>
                  <a:tcPr marL="109728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>
                          <a:solidFill>
                            <a:srgbClr val="1A2A39"/>
                          </a:solidFill>
                          <a:latin typeface="Calibri"/>
                        </a:rPr>
                        <a:t>Bridge to LT / recovery</a:t>
                      </a:r>
                    </a:p>
                  </a:txBody>
                  <a:tcPr marL="109728" marR="73152" marT="45720" marB="45720" anchor="ctr">
                    <a:solidFill>
                      <a:srgbClr val="FFFFFF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1B998B"/>
                          </a:solidFill>
                          <a:latin typeface="Calibri"/>
                        </a:rPr>
                        <a:t>MARS / Prometheus</a:t>
                      </a:r>
                    </a:p>
                  </a:txBody>
                  <a:tcPr marL="109728" marR="73152" marT="45720" marB="45720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>
                          <a:solidFill>
                            <a:srgbClr val="1A2A39"/>
                          </a:solidFill>
                          <a:latin typeface="Calibri"/>
                        </a:rPr>
                        <a:t>Refractory jaundice, HE, pruritus</a:t>
                      </a:r>
                    </a:p>
                  </a:txBody>
                  <a:tcPr marL="109728" marR="73152" marT="45720" marB="45720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>
                          <a:solidFill>
                            <a:srgbClr val="1A2A39"/>
                          </a:solidFill>
                          <a:latin typeface="Calibri"/>
                        </a:rPr>
                        <a:t>Biochemistry ↑, survival neutral</a:t>
                      </a:r>
                    </a:p>
                  </a:txBody>
                  <a:tcPr marL="109728" marR="73152" marT="45720" marB="45720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>
                          <a:solidFill>
                            <a:srgbClr val="1A2A39"/>
                          </a:solidFill>
                          <a:latin typeface="Calibri"/>
                        </a:rPr>
                        <a:t>Selected subgroups</a:t>
                      </a:r>
                    </a:p>
                  </a:txBody>
                  <a:tcPr marL="109728" marR="73152" marT="45720" marB="45720" anchor="ctr">
                    <a:solidFill>
                      <a:srgbClr val="F4F7FA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1B998B"/>
                          </a:solidFill>
                          <a:latin typeface="Calibri"/>
                        </a:rPr>
                        <a:t>Bioartificial</a:t>
                      </a:r>
                    </a:p>
                  </a:txBody>
                  <a:tcPr marL="109728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>
                          <a:solidFill>
                            <a:srgbClr val="1A2A39"/>
                          </a:solidFill>
                          <a:latin typeface="Calibri"/>
                        </a:rPr>
                        <a:t>Synthetic function (future)</a:t>
                      </a:r>
                    </a:p>
                  </a:txBody>
                  <a:tcPr marL="109728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>
                          <a:solidFill>
                            <a:srgbClr val="1A2A39"/>
                          </a:solidFill>
                          <a:latin typeface="Calibri"/>
                        </a:rPr>
                        <a:t>Investigational</a:t>
                      </a:r>
                    </a:p>
                  </a:txBody>
                  <a:tcPr marL="109728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>
                          <a:solidFill>
                            <a:srgbClr val="1A2A39"/>
                          </a:solidFill>
                          <a:latin typeface="Calibri"/>
                        </a:rPr>
                        <a:t>Emerging</a:t>
                      </a:r>
                    </a:p>
                  </a:txBody>
                  <a:tcPr marL="109728" marR="73152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310896" cy="64008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9264" y="3657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B998B"/>
                </a:solidFill>
                <a:latin typeface="Calibri"/>
              </a:rPr>
              <a:t>ALGORITHM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86384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0B2545"/>
                </a:solidFill>
                <a:latin typeface="Calibri"/>
              </a:rPr>
              <a:t>An integrated peri-transplant pathway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C6B7A"/>
                </a:solidFill>
                <a:latin typeface="Calibri"/>
              </a:rPr>
              <a:t>Role of Liver Support Systems in the ICU  •  Peri-Transplant Setting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008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5C6B7A"/>
                </a:solidFill>
                <a:latin typeface="Calibri"/>
              </a:rPr>
              <a:t>25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468880"/>
            <a:ext cx="2103120" cy="18288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  <a:effectLst>
            <a:outerShdw blurRad="90000" dist="40000" dir="5400000" rotWithShape="0">
              <a:srgbClr val="0B254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468880"/>
            <a:ext cx="2103120" cy="54864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57860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Recognise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3154680"/>
            <a:ext cx="1828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A2A39"/>
                </a:solidFill>
                <a:latin typeface="Calibri"/>
              </a:rPr>
              <a:t>ALF / ACLF
+ organ failures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587752" y="3246120"/>
            <a:ext cx="219456" cy="274320"/>
          </a:xfrm>
          <a:prstGeom prst="rightArrow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70632" y="2468880"/>
            <a:ext cx="2103120" cy="18288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  <a:effectLst>
            <a:outerShdw blurRad="90000" dist="40000" dir="5400000" rotWithShape="0">
              <a:srgbClr val="0B254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770632" y="2468880"/>
            <a:ext cx="2103120" cy="548640"/>
          </a:xfrm>
          <a:prstGeom prst="rect">
            <a:avLst/>
          </a:prstGeom>
          <a:solidFill>
            <a:srgbClr val="13A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70632" y="257860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Stabilise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16936" y="3154680"/>
            <a:ext cx="1828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A2A39"/>
                </a:solidFill>
                <a:latin typeface="Calibri"/>
              </a:rPr>
              <a:t>ICU care, NAC,
antivirals, sepsis Rx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855464" y="3246120"/>
            <a:ext cx="219456" cy="274320"/>
          </a:xfrm>
          <a:prstGeom prst="rightArrow">
            <a:avLst/>
          </a:prstGeom>
          <a:solidFill>
            <a:srgbClr val="13A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38344" y="2468880"/>
            <a:ext cx="2103120" cy="18288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  <a:effectLst>
            <a:outerShdw blurRad="90000" dist="40000" dir="5400000" rotWithShape="0">
              <a:srgbClr val="0B254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38344" y="2468880"/>
            <a:ext cx="2103120" cy="5486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38344" y="257860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Support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84648" y="3154680"/>
            <a:ext cx="1828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A2A39"/>
                </a:solidFill>
                <a:latin typeface="Calibri"/>
              </a:rPr>
              <a:t>CRRT for ammonia/AKI
+ PLEX for toxins/immunity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123176" y="3246120"/>
            <a:ext cx="219456" cy="274320"/>
          </a:xfrm>
          <a:prstGeom prst="rightArrow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06056" y="2468880"/>
            <a:ext cx="2103120" cy="18288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  <a:effectLst>
            <a:outerShdw blurRad="90000" dist="40000" dir="5400000" rotWithShape="0">
              <a:srgbClr val="0B254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06056" y="2468880"/>
            <a:ext cx="2103120" cy="548640"/>
          </a:xfrm>
          <a:prstGeom prst="rect">
            <a:avLst/>
          </a:prstGeom>
          <a:solidFill>
            <a:srgbClr val="F4A2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06056" y="257860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Decide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52360" y="3154680"/>
            <a:ext cx="1828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A2A39"/>
                </a:solidFill>
                <a:latin typeface="Calibri"/>
              </a:rPr>
              <a:t>Recovery likely?
List for transplant?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9390888" y="3246120"/>
            <a:ext cx="219456" cy="274320"/>
          </a:xfrm>
          <a:prstGeom prst="rightArrow">
            <a:avLst/>
          </a:prstGeom>
          <a:solidFill>
            <a:srgbClr val="F4A2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573768" y="2468880"/>
            <a:ext cx="2103120" cy="18288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  <a:effectLst>
            <a:outerShdw blurRad="90000" dist="40000" dir="5400000" rotWithShape="0">
              <a:srgbClr val="0B254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573768" y="2468880"/>
            <a:ext cx="2103120" cy="548640"/>
          </a:xfrm>
          <a:prstGeom prst="rect">
            <a:avLst/>
          </a:prstGeom>
          <a:solidFill>
            <a:srgbClr val="13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73768" y="257860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Bridge / Transplant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20072" y="3154680"/>
            <a:ext cx="1828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A2A39"/>
                </a:solidFill>
                <a:latin typeface="Calibri"/>
              </a:rPr>
              <a:t>PLEX bridge → LT
or native recovery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48463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E8743B"/>
                </a:solidFill>
                <a:latin typeface="Calibri"/>
              </a:rPr>
              <a:t>Throughout: </a:t>
            </a:r>
            <a:r>
              <a:rPr sz="1550" b="0" i="0">
                <a:solidFill>
                  <a:srgbClr val="0B2545"/>
                </a:solidFill>
                <a:latin typeface="Calibri"/>
              </a:rPr>
              <a:t>treat the precipitant, support every failing organ, and re-assess transplant candidacy daily.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310896" cy="64008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9264" y="3657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B998B"/>
                </a:solidFill>
                <a:latin typeface="Calibri"/>
              </a:rPr>
              <a:t>RECENT ADVANCES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86384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0B2545"/>
                </a:solidFill>
                <a:latin typeface="Calibri"/>
              </a:rPr>
              <a:t>What's changed in the last few years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C6B7A"/>
                </a:solidFill>
                <a:latin typeface="Calibri"/>
              </a:rPr>
              <a:t>Role of Liver Support Systems in the ICU  •  Peri-Transplant Setting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008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5C6B7A"/>
                </a:solidFill>
                <a:latin typeface="Calibri"/>
              </a:rPr>
              <a:t>26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965960"/>
            <a:ext cx="3611880" cy="18288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  <a:effectLst>
            <a:outerShdw blurRad="90000" dist="40000" dir="5400000" rotWithShape="0">
              <a:srgbClr val="0B254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965960"/>
            <a:ext cx="91440" cy="18288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194560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B2545"/>
                </a:solidFill>
                <a:latin typeface="Calibri"/>
              </a:rPr>
              <a:t>PLEX enters guidelines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880360"/>
            <a:ext cx="3108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1A2A39"/>
                </a:solidFill>
                <a:latin typeface="Calibri"/>
              </a:rPr>
              <a:t>High-volume PLEX is now a Grade-1 recommendation for ALF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07408" y="1965960"/>
            <a:ext cx="3611880" cy="18288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  <a:effectLst>
            <a:outerShdw blurRad="90000" dist="40000" dir="5400000" rotWithShape="0">
              <a:srgbClr val="0B254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07408" y="1965960"/>
            <a:ext cx="91440" cy="1828800"/>
          </a:xfrm>
          <a:prstGeom prst="rect">
            <a:avLst/>
          </a:prstGeom>
          <a:solidFill>
            <a:srgbClr val="13A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81728" y="2194560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B2545"/>
                </a:solidFill>
                <a:latin typeface="Calibri"/>
              </a:rPr>
              <a:t>Standard-volume PLEX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81728" y="2880360"/>
            <a:ext cx="3108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1A2A39"/>
                </a:solidFill>
                <a:latin typeface="Calibri"/>
              </a:rPr>
              <a:t>Comparable benefit with fewer resources — broader feasibility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66176" y="1965960"/>
            <a:ext cx="3611880" cy="18288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  <a:effectLst>
            <a:outerShdw blurRad="90000" dist="40000" dir="5400000" rotWithShape="0">
              <a:srgbClr val="0B254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66176" y="1965960"/>
            <a:ext cx="91440" cy="182880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40496" y="2194560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B2545"/>
                </a:solidFill>
                <a:latin typeface="Calibri"/>
              </a:rPr>
              <a:t>ACLF survival data matures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0496" y="2880360"/>
            <a:ext cx="3108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1A2A39"/>
                </a:solidFill>
                <a:latin typeface="Calibri"/>
              </a:rPr>
              <a:t>Large 2025 meta-analysis confirms 30-/90-day &amp; 1-year benefit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050792"/>
            <a:ext cx="3611880" cy="18288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  <a:effectLst>
            <a:outerShdw blurRad="90000" dist="40000" dir="5400000" rotWithShape="0">
              <a:srgbClr val="0B254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4050792"/>
            <a:ext cx="91440" cy="1828800"/>
          </a:xfrm>
          <a:prstGeom prst="rect">
            <a:avLst/>
          </a:prstGeom>
          <a:solidFill>
            <a:srgbClr val="F4A2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279392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B2545"/>
                </a:solidFill>
                <a:latin typeface="Calibri"/>
              </a:rPr>
              <a:t>Ammonia-targeted CRRT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4965192"/>
            <a:ext cx="3108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1A2A39"/>
                </a:solidFill>
                <a:latin typeface="Calibri"/>
              </a:rPr>
              <a:t>Early, high-dose CRRT for hyperammonaemia gains traction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07408" y="4050792"/>
            <a:ext cx="3611880" cy="18288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  <a:effectLst>
            <a:outerShdw blurRad="90000" dist="40000" dir="5400000" rotWithShape="0">
              <a:srgbClr val="0B254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407408" y="4050792"/>
            <a:ext cx="91440" cy="1828800"/>
          </a:xfrm>
          <a:prstGeom prst="rect">
            <a:avLst/>
          </a:prstGeom>
          <a:solidFill>
            <a:srgbClr val="13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81728" y="4279392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B2545"/>
                </a:solidFill>
                <a:latin typeface="Calibri"/>
              </a:rPr>
              <a:t>Bridge-to-LT evidence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81728" y="4965192"/>
            <a:ext cx="3108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1A2A39"/>
                </a:solidFill>
                <a:latin typeface="Calibri"/>
              </a:rPr>
              <a:t>PLEX improves outcomes in listed candidates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66176" y="4050792"/>
            <a:ext cx="3611880" cy="18288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  <a:effectLst>
            <a:outerShdw blurRad="90000" dist="40000" dir="5400000" rotWithShape="0">
              <a:srgbClr val="0B254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66176" y="4050792"/>
            <a:ext cx="91440" cy="1828800"/>
          </a:xfrm>
          <a:prstGeom prst="rect">
            <a:avLst/>
          </a:prstGeom>
          <a:solidFill>
            <a:srgbClr val="5C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40496" y="4279392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B2545"/>
                </a:solidFill>
                <a:latin typeface="Calibri"/>
              </a:rPr>
              <a:t>Etiology-specific use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40496" y="4965192"/>
            <a:ext cx="3108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1A2A39"/>
                </a:solidFill>
                <a:latin typeface="Calibri"/>
              </a:rPr>
              <a:t>Strong signals in alcohol-associated &amp; HBV ACLF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377440"/>
            <a:ext cx="822960" cy="91440"/>
          </a:xfrm>
          <a:prstGeom prst="rect">
            <a:avLst/>
          </a:prstGeom>
          <a:solidFill>
            <a:srgbClr val="13A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3A89E"/>
                </a:solidFill>
                <a:latin typeface="Calibri"/>
              </a:rPr>
              <a:t>LOOKING AHEAD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748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Futuristic directions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20624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E6ECF2"/>
                </a:solidFill>
                <a:latin typeface="Calibri"/>
              </a:rPr>
              <a:t>From detoxification today to true liver replacement and regeneration tomorrow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008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5C6B7A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310896" cy="64008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9264" y="3657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B998B"/>
                </a:solidFill>
                <a:latin typeface="Calibri"/>
              </a:rPr>
              <a:t>THE FRONTIER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86384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0B2545"/>
                </a:solidFill>
                <a:latin typeface="Calibri"/>
              </a:rPr>
              <a:t>Where liver support is heading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C6B7A"/>
                </a:solidFill>
                <a:latin typeface="Calibri"/>
              </a:rPr>
              <a:t>Role of Liver Support Systems in the ICU  •  Peri-Transplant Setting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008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5C6B7A"/>
                </a:solidFill>
                <a:latin typeface="Calibri"/>
              </a:rPr>
              <a:t>28</a:t>
            </a:r>
          </a:p>
        </p:txBody>
      </p:sp>
      <p:pic>
        <p:nvPicPr>
          <p:cNvPr id="8" name="Picture 7" descr="12_future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783080"/>
            <a:ext cx="7583515" cy="3703320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731520" y="5715000"/>
            <a:ext cx="118872" cy="118872"/>
          </a:xfrm>
          <a:prstGeom prst="ellipse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2416" y="5623560"/>
            <a:ext cx="10479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0B2545"/>
                </a:solidFill>
                <a:latin typeface="Calibri"/>
              </a:rPr>
              <a:t>Bioartificial liver —  </a:t>
            </a:r>
            <a:r>
              <a:rPr sz="1450" b="0" i="0">
                <a:solidFill>
                  <a:srgbClr val="1A2A39"/>
                </a:solidFill>
                <a:latin typeface="Calibri"/>
              </a:rPr>
              <a:t>organoid / hepatocyte bioreactors that add synthetic function, not just detoxification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310896" cy="64008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9264" y="3657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B998B"/>
                </a:solidFill>
                <a:latin typeface="Calibri"/>
              </a:rPr>
              <a:t>ON THE HORIZON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86384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0B2545"/>
                </a:solidFill>
                <a:latin typeface="Calibri"/>
              </a:rPr>
              <a:t>Trials &amp; technologies to watch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C6B7A"/>
                </a:solidFill>
                <a:latin typeface="Calibri"/>
              </a:rPr>
              <a:t>Role of Liver Support Systems in the ICU  •  Peri-Transplant Setting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008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5C6B7A"/>
                </a:solidFill>
                <a:latin typeface="Calibri"/>
              </a:rPr>
              <a:t>29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920240"/>
            <a:ext cx="11064240" cy="102412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  <a:effectLst>
            <a:outerShdw blurRad="90000" dist="40000" dir="5400000" rotWithShape="0">
              <a:srgbClr val="0B254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920240"/>
            <a:ext cx="109728" cy="1024128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039112"/>
            <a:ext cx="10515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E8743B"/>
                </a:solidFill>
                <a:latin typeface="Calibri"/>
              </a:rPr>
              <a:t>APACHE phase-3 RCT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432304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A2A39"/>
                </a:solidFill>
                <a:latin typeface="Calibri"/>
              </a:rPr>
              <a:t>High-volume PLEX with 5% albumin in moderate-severe ACLF — could redefine the standard of care.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090672"/>
            <a:ext cx="11064240" cy="102412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  <a:effectLst>
            <a:outerShdw blurRad="90000" dist="40000" dir="5400000" rotWithShape="0">
              <a:srgbClr val="0B254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3090672"/>
            <a:ext cx="109728" cy="1024128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209544"/>
            <a:ext cx="10515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B998B"/>
                </a:solidFill>
                <a:latin typeface="Calibri"/>
              </a:rPr>
              <a:t>Bioartificial liver devices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602736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A2A39"/>
                </a:solidFill>
                <a:latin typeface="Calibri"/>
              </a:rPr>
              <a:t>3-D hepatocyte/organoid bioreactors aim to replace synthetic function, not just detoxify.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261104"/>
            <a:ext cx="11064240" cy="102412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  <a:effectLst>
            <a:outerShdw blurRad="90000" dist="40000" dir="5400000" rotWithShape="0">
              <a:srgbClr val="0B254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4261104"/>
            <a:ext cx="109728" cy="1024128"/>
          </a:xfrm>
          <a:prstGeom prst="rect">
            <a:avLst/>
          </a:prstGeom>
          <a:solidFill>
            <a:srgbClr val="13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379976"/>
            <a:ext cx="10515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3335C"/>
                </a:solidFill>
                <a:latin typeface="Calibri"/>
              </a:rPr>
              <a:t>Cell-based &amp; gene therapy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773168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A2A39"/>
                </a:solidFill>
                <a:latin typeface="Calibri"/>
              </a:rPr>
              <a:t>Hepatocyte transplantation and stem-cell-derived liver cells as a bridge or alternative to LT.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5431536"/>
            <a:ext cx="11064240" cy="102412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  <a:effectLst>
            <a:outerShdw blurRad="90000" dist="40000" dir="5400000" rotWithShape="0">
              <a:srgbClr val="0B254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5431536"/>
            <a:ext cx="109728" cy="1024128"/>
          </a:xfrm>
          <a:prstGeom prst="rect">
            <a:avLst/>
          </a:prstGeom>
          <a:solidFill>
            <a:srgbClr val="F4A2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5550408"/>
            <a:ext cx="10515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4A259"/>
                </a:solidFill>
                <a:latin typeface="Calibri"/>
              </a:rPr>
              <a:t>AI-guided &amp; perfusion tech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59436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A2A39"/>
                </a:solidFill>
                <a:latin typeface="Calibri"/>
              </a:rPr>
              <a:t>Machine perfusion expands the donor pool; AI may individualise support timing &amp; dosing.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3A89E"/>
                </a:solidFill>
                <a:latin typeface="Calibri"/>
              </a:rPr>
              <a:t>KEY 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Five messages to take to the bedside</a:t>
            </a:r>
          </a:p>
        </p:txBody>
      </p:sp>
      <p:sp>
        <p:nvSpPr>
          <p:cNvPr id="5" name="Oval 4"/>
          <p:cNvSpPr/>
          <p:nvPr/>
        </p:nvSpPr>
        <p:spPr>
          <a:xfrm>
            <a:off x="822960" y="2112264"/>
            <a:ext cx="457200" cy="457200"/>
          </a:xfrm>
          <a:prstGeom prst="ellipse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76272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05740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Buy time, target the toxin.  </a:t>
            </a:r>
            <a:r>
              <a:rPr sz="1500" b="0" i="0">
                <a:solidFill>
                  <a:srgbClr val="E6ECF2"/>
                </a:solidFill>
                <a:latin typeface="Calibri"/>
              </a:rPr>
              <a:t>Liver support bridges to recovery or transplant — match the modality to the toxin class.</a:t>
            </a:r>
          </a:p>
        </p:txBody>
      </p:sp>
      <p:sp>
        <p:nvSpPr>
          <p:cNvPr id="8" name="Oval 7"/>
          <p:cNvSpPr/>
          <p:nvPr/>
        </p:nvSpPr>
        <p:spPr>
          <a:xfrm>
            <a:off x="822960" y="2898648"/>
            <a:ext cx="457200" cy="457200"/>
          </a:xfrm>
          <a:prstGeom prst="ellipse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962656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2843784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PLEX has the strongest evidence.  </a:t>
            </a:r>
            <a:r>
              <a:rPr sz="1500" b="0" i="0">
                <a:solidFill>
                  <a:srgbClr val="E6ECF2"/>
                </a:solidFill>
                <a:latin typeface="Calibri"/>
              </a:rPr>
              <a:t>Survival benefit in ALF (RCT) and ACLF (meta-analysis) — start early.</a:t>
            </a:r>
          </a:p>
        </p:txBody>
      </p:sp>
      <p:sp>
        <p:nvSpPr>
          <p:cNvPr id="11" name="Oval 10"/>
          <p:cNvSpPr/>
          <p:nvPr/>
        </p:nvSpPr>
        <p:spPr>
          <a:xfrm>
            <a:off x="822960" y="3685032"/>
            <a:ext cx="457200" cy="457200"/>
          </a:xfrm>
          <a:prstGeom prst="ellipse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74904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363016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CRRT is a metabolic therapy.  </a:t>
            </a:r>
            <a:r>
              <a:rPr sz="1500" b="0" i="0">
                <a:solidFill>
                  <a:srgbClr val="E6ECF2"/>
                </a:solidFill>
                <a:latin typeface="Calibri"/>
              </a:rPr>
              <a:t>Use it for ammonia and ICP control, not only for the kidneys.</a:t>
            </a:r>
          </a:p>
        </p:txBody>
      </p:sp>
      <p:sp>
        <p:nvSpPr>
          <p:cNvPr id="14" name="Oval 13"/>
          <p:cNvSpPr/>
          <p:nvPr/>
        </p:nvSpPr>
        <p:spPr>
          <a:xfrm>
            <a:off x="822960" y="4471416"/>
            <a:ext cx="457200" cy="457200"/>
          </a:xfrm>
          <a:prstGeom prst="ellipse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535424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4416552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Albumin dialysis: pick your patient.  </a:t>
            </a:r>
            <a:r>
              <a:rPr sz="1500" b="0" i="0">
                <a:solidFill>
                  <a:srgbClr val="E6ECF2"/>
                </a:solidFill>
                <a:latin typeface="Calibri"/>
              </a:rPr>
              <a:t>Biochemistry improves; reserve for selected refractory subgroups.</a:t>
            </a:r>
          </a:p>
        </p:txBody>
      </p:sp>
      <p:sp>
        <p:nvSpPr>
          <p:cNvPr id="17" name="Oval 16"/>
          <p:cNvSpPr/>
          <p:nvPr/>
        </p:nvSpPr>
        <p:spPr>
          <a:xfrm>
            <a:off x="822960" y="5257800"/>
            <a:ext cx="457200" cy="457200"/>
          </a:xfrm>
          <a:prstGeom prst="ellipse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32180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5202936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The future is regenerative.  </a:t>
            </a:r>
            <a:r>
              <a:rPr sz="1500" b="0" i="0">
                <a:solidFill>
                  <a:srgbClr val="E6ECF2"/>
                </a:solidFill>
                <a:latin typeface="Calibri"/>
              </a:rPr>
              <a:t>Bioartificial livers, cell therapy and AI-guided support are coming.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77295" y="64008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5C6B7A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310896" cy="64008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9264" y="3657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B998B"/>
                </a:solidFill>
                <a:latin typeface="Calibri"/>
              </a:rPr>
              <a:t>EVIDENCE BASE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86384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0B2545"/>
                </a:solidFill>
                <a:latin typeface="Calibri"/>
              </a:rPr>
              <a:t>Key references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C6B7A"/>
                </a:solidFill>
                <a:latin typeface="Calibri"/>
              </a:rPr>
              <a:t>Role of Liver Support Systems in the ICU  •  Peri-Transplant Setting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008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5C6B7A"/>
                </a:solidFill>
                <a:latin typeface="Calibri"/>
              </a:rPr>
              <a:t>31</a:t>
            </a:r>
          </a:p>
        </p:txBody>
      </p:sp>
      <p:sp>
        <p:nvSpPr>
          <p:cNvPr id="8" name="Oval 7"/>
          <p:cNvSpPr/>
          <p:nvPr/>
        </p:nvSpPr>
        <p:spPr>
          <a:xfrm>
            <a:off x="594360" y="1892808"/>
            <a:ext cx="91440" cy="91440"/>
          </a:xfrm>
          <a:prstGeom prst="ellipse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1A2A39"/>
                </a:solidFill>
                <a:latin typeface="Calibri"/>
              </a:rPr>
              <a:t>Larsen FS et al. High-volume plasma exchange in acute liver failure: an open RCT. J Hepatol 2016;64:69–78.</a:t>
            </a:r>
          </a:p>
        </p:txBody>
      </p:sp>
      <p:sp>
        <p:nvSpPr>
          <p:cNvPr id="10" name="Oval 9"/>
          <p:cNvSpPr/>
          <p:nvPr/>
        </p:nvSpPr>
        <p:spPr>
          <a:xfrm>
            <a:off x="594360" y="2368296"/>
            <a:ext cx="91440" cy="91440"/>
          </a:xfrm>
          <a:prstGeom prst="ellipse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3042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1A2A39"/>
                </a:solidFill>
                <a:latin typeface="Calibri"/>
              </a:rPr>
              <a:t>Maiwall R et al. Standard-volume plasma exchange improves outcomes in ALF: an RCT. Clin Gastroenterol Hepatol 2022.</a:t>
            </a:r>
          </a:p>
        </p:txBody>
      </p:sp>
      <p:sp>
        <p:nvSpPr>
          <p:cNvPr id="12" name="Oval 11"/>
          <p:cNvSpPr/>
          <p:nvPr/>
        </p:nvSpPr>
        <p:spPr>
          <a:xfrm>
            <a:off x="594360" y="2843784"/>
            <a:ext cx="91440" cy="91440"/>
          </a:xfrm>
          <a:prstGeom prst="ellipse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77977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1A2A39"/>
                </a:solidFill>
                <a:latin typeface="Calibri"/>
              </a:rPr>
              <a:t>Kumar R et al. Therapeutic plasma exchange in ACLF improves survival — an updated meta-analysis. Liver Int 2025.</a:t>
            </a:r>
          </a:p>
        </p:txBody>
      </p:sp>
      <p:sp>
        <p:nvSpPr>
          <p:cNvPr id="14" name="Oval 13"/>
          <p:cNvSpPr/>
          <p:nvPr/>
        </p:nvSpPr>
        <p:spPr>
          <a:xfrm>
            <a:off x="594360" y="3319272"/>
            <a:ext cx="91440" cy="91440"/>
          </a:xfrm>
          <a:prstGeom prst="ellipse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255264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1A2A39"/>
                </a:solidFill>
                <a:latin typeface="Calibri"/>
              </a:rPr>
              <a:t>Bañares R et al. (RELIEF) Extracorporeal albumin dialysis with MARS in ACLF. Hepatology 2013.</a:t>
            </a:r>
          </a:p>
        </p:txBody>
      </p:sp>
      <p:sp>
        <p:nvSpPr>
          <p:cNvPr id="16" name="Oval 15"/>
          <p:cNvSpPr/>
          <p:nvPr/>
        </p:nvSpPr>
        <p:spPr>
          <a:xfrm>
            <a:off x="594360" y="3794760"/>
            <a:ext cx="91440" cy="91440"/>
          </a:xfrm>
          <a:prstGeom prst="ellipse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730752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1A2A39"/>
                </a:solidFill>
                <a:latin typeface="Calibri"/>
              </a:rPr>
              <a:t>Kribben A et al. (HELIOS) Effects of Prometheus in patients with ACLF. Gastroenterology 2012.</a:t>
            </a:r>
          </a:p>
        </p:txBody>
      </p:sp>
      <p:sp>
        <p:nvSpPr>
          <p:cNvPr id="18" name="Oval 17"/>
          <p:cNvSpPr/>
          <p:nvPr/>
        </p:nvSpPr>
        <p:spPr>
          <a:xfrm>
            <a:off x="594360" y="4270248"/>
            <a:ext cx="91440" cy="91440"/>
          </a:xfrm>
          <a:prstGeom prst="ellipse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2062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1A2A39"/>
                </a:solidFill>
                <a:latin typeface="Calibri"/>
              </a:rPr>
              <a:t>Cardoso FS et al. CRRT &amp; hyperammonaemia in acute liver failure. Crit Care / J Hepatol reports.</a:t>
            </a:r>
          </a:p>
        </p:txBody>
      </p:sp>
      <p:sp>
        <p:nvSpPr>
          <p:cNvPr id="20" name="Oval 19"/>
          <p:cNvSpPr/>
          <p:nvPr/>
        </p:nvSpPr>
        <p:spPr>
          <a:xfrm>
            <a:off x="594360" y="4745736"/>
            <a:ext cx="91440" cy="91440"/>
          </a:xfrm>
          <a:prstGeom prst="ellipse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46817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1A2A39"/>
                </a:solidFill>
                <a:latin typeface="Calibri"/>
              </a:rPr>
              <a:t>EASL Clinical Practice Guidelines on the management of acute (fulminant) liver failure. J Hepatol.</a:t>
            </a:r>
          </a:p>
        </p:txBody>
      </p:sp>
      <p:sp>
        <p:nvSpPr>
          <p:cNvPr id="22" name="Oval 21"/>
          <p:cNvSpPr/>
          <p:nvPr/>
        </p:nvSpPr>
        <p:spPr>
          <a:xfrm>
            <a:off x="594360" y="5221224"/>
            <a:ext cx="91440" cy="91440"/>
          </a:xfrm>
          <a:prstGeom prst="ellipse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515721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1A2A39"/>
                </a:solidFill>
                <a:latin typeface="Calibri"/>
              </a:rPr>
              <a:t>APACHE trial (NCT03702920): plasma exchange with albumin 5% in ACLF.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5769864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5C6B7A"/>
                </a:solidFill>
                <a:latin typeface="Calibri"/>
              </a:rPr>
              <a:t>Figures generated from published trial &amp; meta-analysis data; some values are illustrative for teaching. Verify before clinical use.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