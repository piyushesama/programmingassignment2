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914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51960"/>
            <a:ext cx="4023360" cy="54864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161288"/>
            <a:ext cx="310896" cy="64008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3584" y="10515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3A89E"/>
                </a:solidFill>
                <a:latin typeface="Calibri"/>
              </a:rPr>
              <a:t>ICU • HEPATOLOGY • TRANSPLANT CRITICAL 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Role of Liver Support Systems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in the ICU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F4A259"/>
                </a:solidFill>
                <a:latin typeface="Calibri"/>
              </a:rPr>
              <a:t>The Peri-Transplant Setting — with a focus on PLEX &amp; CRRT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E6ECF2"/>
                </a:solidFill>
                <a:latin typeface="Calibri"/>
              </a:rPr>
              <a:t>Recent advances and futuristic directions in extracorporeal liver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Calibri"/>
              </a:rPr>
              <a:t>Prepared for Dr. Amit  •  Gleneagles  •  </a:t>
            </a:r>
            <a:r>
              <a:rPr sz="1300" b="1" i="0">
                <a:solidFill>
                  <a:srgbClr val="13A89E"/>
                </a:solidFill>
                <a:latin typeface="Calibri"/>
              </a:rPr>
              <a:t>Keynote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310896" cy="6400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998B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What this talk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Role of Liver Support Systems in the ICU  •  Peri-Transplant 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3611880" cy="20574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3611880" cy="914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3611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998B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B2545"/>
                </a:solidFill>
                <a:latin typeface="Calibri"/>
              </a:rPr>
              <a:t>The clinical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9184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Calibri"/>
              </a:rPr>
              <a:t>ALF, ACLF &amp; the peri-transplant window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1920240"/>
            <a:ext cx="3611880" cy="20574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1920240"/>
            <a:ext cx="3611880" cy="91440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2176272"/>
            <a:ext cx="3611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3A89E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8803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B2545"/>
                </a:solidFill>
                <a:latin typeface="Calibri"/>
              </a:rPr>
              <a:t>Why support the liver?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329184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Calibri"/>
              </a:rPr>
              <a:t>Toxins, immune storm &amp; multi-organ failure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66176" y="1920240"/>
            <a:ext cx="3611880" cy="20574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66176" y="1920240"/>
            <a:ext cx="3611880" cy="9144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0496" y="2176272"/>
            <a:ext cx="3611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8743B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496" y="28803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B2545"/>
                </a:solidFill>
                <a:latin typeface="Calibri"/>
              </a:rPr>
              <a:t>CRRT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0496" y="329184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Calibri"/>
              </a:rPr>
              <a:t>Ammonia control &amp; metabolic rescue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51960"/>
            <a:ext cx="3611880" cy="20574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51960"/>
            <a:ext cx="3611880" cy="914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507992"/>
            <a:ext cx="3611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998B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21208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B2545"/>
                </a:solidFill>
                <a:latin typeface="Calibri"/>
              </a:rPr>
              <a:t>Plasma exchange (PLEX)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2356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Calibri"/>
              </a:rPr>
              <a:t>The strongest survival evidence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07408" y="4251960"/>
            <a:ext cx="3611880" cy="20574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07408" y="4251960"/>
            <a:ext cx="3611880" cy="91440"/>
          </a:xfrm>
          <a:prstGeom prst="rect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4507992"/>
            <a:ext cx="3611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4A259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8" y="521208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B2545"/>
                </a:solidFill>
                <a:latin typeface="Calibri"/>
              </a:rPr>
              <a:t>Albumin dialysis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562356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Calibri"/>
              </a:rPr>
              <a:t>MARS / Prometheus — lessons learned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66176" y="4251960"/>
            <a:ext cx="3611880" cy="20574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66176" y="4251960"/>
            <a:ext cx="3611880" cy="91440"/>
          </a:xfrm>
          <a:prstGeom prst="rect">
            <a:avLst/>
          </a:prstGeom>
          <a:solidFill>
            <a:srgbClr val="13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0496" y="4507992"/>
            <a:ext cx="3611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3335C"/>
                </a:solidFill>
                <a:latin typeface="Calibr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0496" y="521208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B2545"/>
                </a:solidFill>
                <a:latin typeface="Calibri"/>
              </a:rPr>
              <a:t>Future directions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0496" y="562356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Calibri"/>
              </a:rPr>
              <a:t>Bioartificial liver, cells &amp;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310896" cy="6400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998B"/>
                </a:solidFill>
                <a:latin typeface="Calibri"/>
              </a:rPr>
              <a:t>THE CLINICAL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Liver failure is a multi-organ emergency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C6B7A"/>
                </a:solidFill>
                <a:latin typeface="Calibri"/>
              </a:rPr>
              <a:t>Rapid loss of hepatic function → encephalopathy, coagulopathy and circulatory collapse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Role of Liver Support Systems in the ICU  •  Peri-Transplant Setting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03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103120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11680"/>
            <a:ext cx="572414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Detoxification fails —  </a:t>
            </a:r>
            <a:r>
              <a:rPr sz="1600" b="0" i="0">
                <a:solidFill>
                  <a:srgbClr val="1A2A39"/>
                </a:solidFill>
                <a:latin typeface="Calibri"/>
              </a:rPr>
              <a:t>ammonia, bilirubin, bile acids &amp; toxins accumulate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852928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761488"/>
            <a:ext cx="572414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Synthesis fails —  </a:t>
            </a:r>
            <a:r>
              <a:rPr sz="1600" b="0" i="0">
                <a:solidFill>
                  <a:srgbClr val="1A2A39"/>
                </a:solidFill>
                <a:latin typeface="Calibri"/>
              </a:rPr>
              <a:t>coagulopathy, hypoalbuminaemia, hypoglycaemia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602736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511296"/>
            <a:ext cx="572414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Immune dysregulation —  </a:t>
            </a:r>
            <a:r>
              <a:rPr sz="1600" b="0" i="0">
                <a:solidFill>
                  <a:srgbClr val="1A2A39"/>
                </a:solidFill>
                <a:latin typeface="Calibri"/>
              </a:rPr>
              <a:t>a systemic inflammatory / cytokine storm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352544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4261104"/>
            <a:ext cx="572414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Multi-organ failure —  </a:t>
            </a:r>
            <a:r>
              <a:rPr sz="1600" b="0" i="0">
                <a:solidFill>
                  <a:srgbClr val="1A2A39"/>
                </a:solidFill>
                <a:latin typeface="Calibri"/>
              </a:rPr>
              <a:t>brain, kidney, circulation &amp; lungs follow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102352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5010912"/>
            <a:ext cx="572414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The liver can regenerate —  </a:t>
            </a:r>
            <a:r>
              <a:rPr sz="1600" b="0" i="0">
                <a:solidFill>
                  <a:srgbClr val="1A2A39"/>
                </a:solidFill>
                <a:latin typeface="Calibri"/>
              </a:rPr>
              <a:t>if the patient survives the acute hit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1965960"/>
            <a:ext cx="457200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1965960"/>
            <a:ext cx="91440" cy="132588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6912" y="2130552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E8743B"/>
                </a:solidFill>
                <a:latin typeface="Calibri"/>
              </a:rPr>
              <a:t>Hours–days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578608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Calibri"/>
              </a:rPr>
              <a:t>Window from presentation to irreversible multi-organ failure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3429000"/>
            <a:ext cx="457200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0880" y="3429000"/>
            <a:ext cx="91440" cy="132588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96912" y="3593592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1B998B"/>
                </a:solidFill>
                <a:latin typeface="Calibri"/>
              </a:rPr>
              <a:t>2 goals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041648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Calibri"/>
              </a:rPr>
              <a:t>Bridge to recovery  OR  bridge to transplantation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98348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Liver support buys time — </a:t>
            </a:r>
            <a:r>
              <a:rPr sz="1500" b="0" i="0">
                <a:solidFill>
                  <a:srgbClr val="1A2A39"/>
                </a:solidFill>
                <a:latin typeface="Calibri"/>
              </a:rPr>
              <a:t>either for the native liver to regenerate, or for a graft to become available.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310896" cy="6400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998B"/>
                </a:solidFill>
                <a:latin typeface="Calibri"/>
              </a:rPr>
              <a:t>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ALF vs ACLF vs the peri-transplant patient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Role of Liver Support Systems in the ICU  •  Peri-Transplant 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11064240" cy="13258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109728" cy="132588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3055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998B"/>
                </a:solidFill>
                <a:latin typeface="Calibri"/>
              </a:rPr>
              <a:t>Acute liver failure (ALF)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69464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A39"/>
                </a:solidFill>
                <a:latin typeface="Calibri"/>
              </a:rPr>
              <a:t>Sudden failure in a previously healthy liver. Coagulopathy + encephalopathy within weeks. Often a single insult (paracetamol, virus).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83864"/>
            <a:ext cx="11064240" cy="13258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483864"/>
            <a:ext cx="109728" cy="132588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4845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8743B"/>
                </a:solidFill>
                <a:latin typeface="Calibri"/>
              </a:rPr>
              <a:t>Acute-on-chronic liver failure (ACLF)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87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A39"/>
                </a:solidFill>
                <a:latin typeface="Calibri"/>
              </a:rPr>
              <a:t>Acute decompensation on cirrhosis with organ failures and high short-term mortality. Driven by systemic inflammation.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001768"/>
            <a:ext cx="11064240" cy="13258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001768"/>
            <a:ext cx="109728" cy="1325880"/>
          </a:xfrm>
          <a:prstGeom prst="rect">
            <a:avLst/>
          </a:prstGeom>
          <a:solidFill>
            <a:srgbClr val="13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3335C"/>
                </a:solidFill>
                <a:latin typeface="Calibri"/>
              </a:rPr>
              <a:t>Peri-transplant ICU patient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0527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A39"/>
                </a:solidFill>
                <a:latin typeface="Calibri"/>
              </a:rPr>
              <a:t>On the waiting list or post-graft — needing organ support to stay a viable transplant candidate or to recover the new graft.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310896" cy="6400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998B"/>
                </a:solidFill>
                <a:latin typeface="Calibri"/>
              </a:rPr>
              <a:t>EPIDEMIOLOGY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Rare, but with very high mortality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Role of Liver Support Systems in the ICU  •  Peri-Transplant 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05</a:t>
            </a:r>
          </a:p>
        </p:txBody>
      </p:sp>
      <p:pic>
        <p:nvPicPr>
          <p:cNvPr id="8" name="Picture 7" descr="02_inc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6766560" cy="453709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89520" y="1920240"/>
            <a:ext cx="402336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920240"/>
            <a:ext cx="91440" cy="12344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2084832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1B998B"/>
                </a:solidFill>
                <a:latin typeface="Calibri"/>
              </a:rPr>
              <a:t>~1–6 / million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441448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Calibri"/>
              </a:rPr>
              <a:t>Annual ALF incidence in the developed world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3291840"/>
            <a:ext cx="402336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3291840"/>
            <a:ext cx="91440" cy="123444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45552" y="3456432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E8743B"/>
                </a:solidFill>
                <a:latin typeface="Calibri"/>
              </a:rPr>
              <a:t>27%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813048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Calibri"/>
              </a:rPr>
              <a:t>30-day mortality in a population-based ALF cohort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4663440"/>
            <a:ext cx="402336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4663440"/>
            <a:ext cx="91440" cy="1234440"/>
          </a:xfrm>
          <a:prstGeom prst="rect">
            <a:avLst/>
          </a:prstGeom>
          <a:solidFill>
            <a:srgbClr val="13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4828032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13335C"/>
                </a:solidFill>
                <a:latin typeface="Calibri"/>
              </a:rPr>
              <a:t>&lt;0.01%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184648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Calibri"/>
              </a:rPr>
              <a:t>Received a transplant where access is limited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310896" cy="6400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998B"/>
                </a:solidFill>
                <a:latin typeface="Calibri"/>
              </a:rPr>
              <a:t>AETIOLOGY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Causes drive the therapeutic choice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Role of Liver Support Systems in the ICU  •  Peri-Transplant 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06</a:t>
            </a:r>
          </a:p>
        </p:txBody>
      </p:sp>
      <p:pic>
        <p:nvPicPr>
          <p:cNvPr id="8" name="Picture 7" descr="01_eti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83080"/>
            <a:ext cx="6949440" cy="4206161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498079" y="2194560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08975" y="2103120"/>
            <a:ext cx="38953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2545"/>
                </a:solidFill>
                <a:latin typeface="Calibri"/>
              </a:rPr>
              <a:t>Paracetamol / DILI —  </a:t>
            </a:r>
            <a:r>
              <a:rPr sz="1450" b="0" i="0">
                <a:solidFill>
                  <a:srgbClr val="1A2A39"/>
                </a:solidFill>
                <a:latin typeface="Calibri"/>
              </a:rPr>
              <a:t>the dominant Western cause; supportive ± NAC</a:t>
            </a:r>
          </a:p>
        </p:txBody>
      </p:sp>
      <p:sp>
        <p:nvSpPr>
          <p:cNvPr id="11" name="Oval 10"/>
          <p:cNvSpPr/>
          <p:nvPr/>
        </p:nvSpPr>
        <p:spPr>
          <a:xfrm>
            <a:off x="7498079" y="3108960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8975" y="3017520"/>
            <a:ext cx="38953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2545"/>
                </a:solidFill>
                <a:latin typeface="Calibri"/>
              </a:rPr>
              <a:t>Viral (HBV, HEV) —  </a:t>
            </a:r>
            <a:r>
              <a:rPr sz="1450" b="0" i="0">
                <a:solidFill>
                  <a:srgbClr val="1A2A39"/>
                </a:solidFill>
                <a:latin typeface="Calibri"/>
              </a:rPr>
              <a:t>dominant across Asia; antiviral + support</a:t>
            </a:r>
          </a:p>
        </p:txBody>
      </p:sp>
      <p:sp>
        <p:nvSpPr>
          <p:cNvPr id="13" name="Oval 12"/>
          <p:cNvSpPr/>
          <p:nvPr/>
        </p:nvSpPr>
        <p:spPr>
          <a:xfrm>
            <a:off x="7498079" y="4023360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08975" y="3931920"/>
            <a:ext cx="38953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2545"/>
                </a:solidFill>
                <a:latin typeface="Calibri"/>
              </a:rPr>
              <a:t>Indeterminate —  </a:t>
            </a:r>
            <a:r>
              <a:rPr sz="1450" b="0" i="0">
                <a:solidFill>
                  <a:srgbClr val="1A2A39"/>
                </a:solidFill>
                <a:latin typeface="Calibri"/>
              </a:rPr>
              <a:t>a large subgroup; high transplant need</a:t>
            </a:r>
          </a:p>
        </p:txBody>
      </p:sp>
      <p:sp>
        <p:nvSpPr>
          <p:cNvPr id="15" name="Oval 14"/>
          <p:cNvSpPr/>
          <p:nvPr/>
        </p:nvSpPr>
        <p:spPr>
          <a:xfrm>
            <a:off x="7498079" y="4937760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08975" y="4846320"/>
            <a:ext cx="38953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2545"/>
                </a:solidFill>
                <a:latin typeface="Calibri"/>
              </a:rPr>
              <a:t>Immune &amp; vascular —  </a:t>
            </a:r>
            <a:r>
              <a:rPr sz="1450" b="0" i="0">
                <a:solidFill>
                  <a:srgbClr val="1A2A39"/>
                </a:solidFill>
                <a:latin typeface="Calibri"/>
              </a:rPr>
              <a:t>may respond to PLEX / steroids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310896" cy="6400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998B"/>
                </a:solidFill>
                <a:latin typeface="Calibri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Intensive support has transformed survival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Role of Liver Support Systems in the ICU  •  Peri-Transplant 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07</a:t>
            </a:r>
          </a:p>
        </p:txBody>
      </p:sp>
      <p:pic>
        <p:nvPicPr>
          <p:cNvPr id="8" name="Picture 7" descr="03_mortalit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315200" cy="43684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2103120"/>
            <a:ext cx="34747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2545"/>
                </a:solidFill>
                <a:latin typeface="Calibri"/>
              </a:rPr>
              <a:t>Each layer of organ support — </a:t>
            </a:r>
            <a:r>
              <a:rPr sz="1550" b="0" i="0">
                <a:solidFill>
                  <a:srgbClr val="1A2A39"/>
                </a:solidFill>
                <a:latin typeface="Calibri"/>
              </a:rPr>
              <a:t>modern ICU care, then extracorporeal liver support, then transplantation — </a:t>
            </a:r>
            <a:r>
              <a:rPr sz="1550" b="0" i="0">
                <a:solidFill>
                  <a:srgbClr val="1A2A39"/>
                </a:solidFill>
                <a:latin typeface="Calibri"/>
              </a:rPr>
              <a:t>has incrementally improved survival in liver failure.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77440"/>
            <a:ext cx="822960" cy="914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B998B"/>
                </a:solidFill>
                <a:latin typeface="Calibri"/>
              </a:rPr>
              <a:t>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rationale for
extracorporeal liver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E6ECF2"/>
                </a:solidFill>
                <a:latin typeface="Calibri"/>
              </a:rPr>
              <a:t>Remove what the failing liver can't — and modulate the inflammatory storm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310896" cy="6400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998B"/>
                </a:solidFill>
                <a:latin typeface="Calibri"/>
              </a:rPr>
              <a:t>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What liver support actually removes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Role of Liver Support Systems in the ICU  •  Peri-Transplant 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2697480" cy="32918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2697480" cy="7772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57984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Water-soluble toxins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971800"/>
            <a:ext cx="231343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2A39"/>
                </a:solidFill>
                <a:latin typeface="Calibri"/>
              </a:rPr>
              <a:t>Ammonia, urea, small molecules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80060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B998B"/>
                </a:solidFill>
                <a:latin typeface="Calibri"/>
              </a:rPr>
              <a:t>→ CRRT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0712" y="2011680"/>
            <a:ext cx="2697480" cy="32918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10712" y="2011680"/>
            <a:ext cx="2697480" cy="77724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157984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Protein-bound toxins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971800"/>
            <a:ext cx="231343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2A39"/>
                </a:solidFill>
                <a:latin typeface="Calibri"/>
              </a:rPr>
              <a:t>Bilirubin, bile acids, aromatic amino acids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480060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E8743B"/>
                </a:solidFill>
                <a:latin typeface="Calibri"/>
              </a:rPr>
              <a:t>→ PLEX / albumin dialysis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2784" y="2011680"/>
            <a:ext cx="2697480" cy="32918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2011680"/>
            <a:ext cx="2697480" cy="777240"/>
          </a:xfrm>
          <a:prstGeom prst="rect">
            <a:avLst/>
          </a:prstGeom>
          <a:solidFill>
            <a:srgbClr val="13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157984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Inflammatory mediators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971800"/>
            <a:ext cx="231343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2A39"/>
                </a:solidFill>
                <a:latin typeface="Calibri"/>
              </a:rPr>
              <a:t>Cytokines, DAMPs, chemokines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480060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3335C"/>
                </a:solidFill>
                <a:latin typeface="Calibri"/>
              </a:rPr>
              <a:t>→ PLEX (immune reset)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34856" y="2011680"/>
            <a:ext cx="2697480" cy="32918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34856" y="2011680"/>
            <a:ext cx="2697480" cy="777240"/>
          </a:xfrm>
          <a:prstGeom prst="rect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36024" y="2157984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Missing factors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6024" y="2971800"/>
            <a:ext cx="231343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2A39"/>
                </a:solidFill>
                <a:latin typeface="Calibri"/>
              </a:rPr>
              <a:t>Coagulation factors, albumin, opsonins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6024" y="480060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4A259"/>
                </a:solidFill>
                <a:latin typeface="Calibri"/>
              </a:rPr>
              <a:t>→ PLEX replaces them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532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8743B"/>
                </a:solidFill>
                <a:latin typeface="Calibri"/>
              </a:rPr>
              <a:t>Key idea:  </a:t>
            </a:r>
            <a:r>
              <a:rPr sz="1500" b="0" i="0">
                <a:solidFill>
                  <a:srgbClr val="0B2545"/>
                </a:solidFill>
                <a:latin typeface="Calibri"/>
              </a:rPr>
              <a:t>no single device replaces the liver — modalities are combined to cover different toxin classes.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310896" cy="6400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998B"/>
                </a:solidFill>
                <a:latin typeface="Calibri"/>
              </a:rPr>
              <a:t>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A mechanistic map of the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Role of Liver Support Systems in the ICU  •  Peri-Transplant 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11_moda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828800"/>
            <a:ext cx="7955408" cy="4069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C6B7A"/>
                </a:solidFill>
                <a:latin typeface="Calibri"/>
              </a:rPr>
              <a:t>Artificial (cell-free): CRRT, PLEX, MARS, Prometheus    •    Bioartificial (cell-based): the emerging frontier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77440"/>
            <a:ext cx="822960" cy="9144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8743B"/>
                </a:solidFill>
                <a:latin typeface="Calibri"/>
              </a:rPr>
              <a:t>MODALITY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CRRT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E6ECF2"/>
                </a:solidFill>
                <a:latin typeface="Calibri"/>
              </a:rPr>
              <a:t>Continuous renal replacement therapy — the metabolic workhorse of the liver ICU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310896" cy="6400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998B"/>
                </a:solidFill>
                <a:latin typeface="Calibri"/>
              </a:rPr>
              <a:t>CRRT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Principles &amp; indications in liver 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Role of Liver Support Systems in the ICU  •  Peri-Transplant 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12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057400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965960"/>
            <a:ext cx="554126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2545"/>
                </a:solidFill>
                <a:latin typeface="Calibri"/>
              </a:rPr>
              <a:t>Continuous &amp; gentle —  </a:t>
            </a:r>
            <a:r>
              <a:rPr sz="1550" b="0" i="0">
                <a:solidFill>
                  <a:srgbClr val="1A2A39"/>
                </a:solidFill>
                <a:latin typeface="Calibri"/>
              </a:rPr>
              <a:t>slow solute removal suits the haemodynamically fragile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807208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715768"/>
            <a:ext cx="554126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2545"/>
                </a:solidFill>
                <a:latin typeface="Calibri"/>
              </a:rPr>
              <a:t>Ammonia control —  </a:t>
            </a:r>
            <a:r>
              <a:rPr sz="1550" b="0" i="0">
                <a:solidFill>
                  <a:srgbClr val="1A2A39"/>
                </a:solidFill>
                <a:latin typeface="Calibri"/>
              </a:rPr>
              <a:t>the key non-renal indication in ALF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557016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465576"/>
            <a:ext cx="554126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2545"/>
                </a:solidFill>
                <a:latin typeface="Calibri"/>
              </a:rPr>
              <a:t>Avoids ICP swings —  </a:t>
            </a:r>
            <a:r>
              <a:rPr sz="1550" b="0" i="0">
                <a:solidFill>
                  <a:srgbClr val="1A2A39"/>
                </a:solidFill>
                <a:latin typeface="Calibri"/>
              </a:rPr>
              <a:t>preferred over intermittent HD in cerebral oedema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306824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4215384"/>
            <a:ext cx="554126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2545"/>
                </a:solidFill>
                <a:latin typeface="Calibri"/>
              </a:rPr>
              <a:t>Manages AKI / HRS —  </a:t>
            </a:r>
            <a:r>
              <a:rPr sz="1550" b="0" i="0">
                <a:solidFill>
                  <a:srgbClr val="1A2A39"/>
                </a:solidFill>
                <a:latin typeface="Calibri"/>
              </a:rPr>
              <a:t>fluid, acid-base &amp; electrolyte control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5056632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4965192"/>
            <a:ext cx="5541264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2545"/>
                </a:solidFill>
                <a:latin typeface="Calibri"/>
              </a:rPr>
              <a:t>Platform for combination —  </a:t>
            </a:r>
            <a:r>
              <a:rPr sz="1550" b="0" i="0">
                <a:solidFill>
                  <a:srgbClr val="1A2A39"/>
                </a:solidFill>
                <a:latin typeface="Calibri"/>
              </a:rPr>
              <a:t>runs alongside PLEX in many protocols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1965960"/>
            <a:ext cx="45720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40880" y="1965960"/>
            <a:ext cx="91440" cy="137160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96912" y="2130552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E8743B"/>
                </a:solidFill>
                <a:latin typeface="Calibri"/>
              </a:rPr>
              <a:t>Start early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624328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Calibri"/>
              </a:rPr>
              <a:t>CRRT is often begun BEFORE stage-3 AKI — to control ammonia, not just for the kidneys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3520440"/>
            <a:ext cx="45720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0" y="3520440"/>
            <a:ext cx="91440" cy="13716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6912" y="3685032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1B998B"/>
                </a:solidFill>
                <a:latin typeface="Calibri"/>
              </a:rPr>
              <a:t>CVVHDF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178808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Calibri"/>
              </a:rPr>
              <a:t>High-flow continuous veno-venous haemodiafiltration maximises ammonia clearance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507492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2545"/>
                </a:solidFill>
                <a:latin typeface="Calibri"/>
              </a:rPr>
              <a:t>Ammonia clearance is lower than urea/creatinine </a:t>
            </a:r>
            <a:r>
              <a:rPr sz="1450" b="0" i="0">
                <a:solidFill>
                  <a:srgbClr val="1A2A39"/>
                </a:solidFill>
                <a:latin typeface="Calibri"/>
              </a:rPr>
              <a:t>→ higher effluent doses are used in hyperammonaemia.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310896" cy="6400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998B"/>
                </a:solidFill>
                <a:latin typeface="Calibri"/>
              </a:rPr>
              <a:t>CRRT •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Controlling ammonia changes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Role of Liver Support Systems in the ICU  •  Peri-Transplant 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13</a:t>
            </a:r>
          </a:p>
        </p:txBody>
      </p:sp>
      <p:pic>
        <p:nvPicPr>
          <p:cNvPr id="8" name="Picture 7" descr="08_crrt_ammon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7040880" cy="457803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0" y="2011680"/>
            <a:ext cx="38404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2011680"/>
            <a:ext cx="91440" cy="13716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28432" y="2176272"/>
            <a:ext cx="347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1B998B"/>
                </a:solidFill>
                <a:latin typeface="Calibri"/>
              </a:rPr>
              <a:t>84%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670048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Calibri"/>
              </a:rPr>
              <a:t>Achieved control of extreme hyperammonaemia (&gt;140 µmol/L) after day 1 with CRRT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3566160"/>
            <a:ext cx="38404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3566160"/>
            <a:ext cx="91440" cy="137160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2" y="3730752"/>
            <a:ext cx="347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E8743B"/>
                </a:solidFill>
                <a:latin typeface="Calibri"/>
              </a:rPr>
              <a:t>4×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224528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Calibri"/>
              </a:rPr>
              <a:t>Higher transplant-free survival when extreme hyperammonaemia was prevented (55% vs 13%)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310896" cy="6400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998B"/>
                </a:solidFill>
                <a:latin typeface="Calibri"/>
              </a:rPr>
              <a:t>CRRT •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Often a metabolic therapy, not a renal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Role of Liver Support Systems in the ICU  •  Peri-Transplant 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14</a:t>
            </a:r>
          </a:p>
        </p:txBody>
      </p:sp>
      <p:pic>
        <p:nvPicPr>
          <p:cNvPr id="8" name="Picture 7" descr="09_crrt_ind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6035040" cy="3487086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949440" y="2286000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0336" y="2194560"/>
            <a:ext cx="435254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Three-quarters started  </a:t>
            </a:r>
            <a:r>
              <a:rPr sz="1500" b="0" i="0">
                <a:solidFill>
                  <a:srgbClr val="1A2A39"/>
                </a:solidFill>
                <a:latin typeface="Calibri"/>
              </a:rPr>
              <a:t>without stage-3 AKI — driven by ammonia &amp; encephalopathy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0" y="3246120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0336" y="3154680"/>
            <a:ext cx="435254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Neuroprotection  </a:t>
            </a:r>
            <a:r>
              <a:rPr sz="1500" b="0" i="0">
                <a:solidFill>
                  <a:srgbClr val="1A2A39"/>
                </a:solidFill>
                <a:latin typeface="Calibri"/>
              </a:rPr>
              <a:t>lowering ammonia reduces intracranial hypertension risk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0" y="4206240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0336" y="4114800"/>
            <a:ext cx="435254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Peri-transplant  </a:t>
            </a:r>
            <a:r>
              <a:rPr sz="1500" b="0" i="0">
                <a:solidFill>
                  <a:srgbClr val="1A2A39"/>
                </a:solidFill>
                <a:latin typeface="Calibri"/>
              </a:rPr>
              <a:t>stabilises HRS and volume status before / after graft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77440"/>
            <a:ext cx="822960" cy="914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B998B"/>
                </a:solidFill>
                <a:latin typeface="Calibri"/>
              </a:rPr>
              <a:t>MODALITY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Plasma exchange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E6ECF2"/>
                </a:solidFill>
                <a:latin typeface="Calibri"/>
              </a:rPr>
              <a:t>Therapeutic plasma exchange (PLEX / TPE) — the strongest survival evidence to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310896" cy="6400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998B"/>
                </a:solidFill>
                <a:latin typeface="Calibri"/>
              </a:rPr>
              <a:t>PLEX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One therapy, three simultaneous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Role of Liver Support Systems in the ICU  •  Peri-Transplant 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3520440" cy="26517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3520440" cy="86868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9424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REMOVE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200400"/>
            <a:ext cx="300837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A2A39"/>
                </a:solidFill>
                <a:latin typeface="Calibri"/>
              </a:rPr>
              <a:t>Clears protein-bound toxins, bilirubin, bile acids &amp; aromatic amino acids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6552" y="2103120"/>
            <a:ext cx="3520440" cy="26517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2103120"/>
            <a:ext cx="3520440" cy="86868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2249424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3200400"/>
            <a:ext cx="300837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A2A39"/>
                </a:solidFill>
                <a:latin typeface="Calibri"/>
              </a:rPr>
              <a:t>Restores coagulation factors, albumin &amp; opsonins via fresh plasma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2103120"/>
            <a:ext cx="3520440" cy="26517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4" y="2103120"/>
            <a:ext cx="3520440" cy="868680"/>
          </a:xfrm>
          <a:prstGeom prst="rect">
            <a:avLst/>
          </a:prstGeom>
          <a:solidFill>
            <a:srgbClr val="13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4" y="2249424"/>
            <a:ext cx="3520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3200400"/>
            <a:ext cx="300837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A2A39"/>
                </a:solidFill>
                <a:latin typeface="Calibri"/>
              </a:rPr>
              <a:t>Dampens the cytokine / DAMP-driven inflammatory storm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2920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Unlike CRRT or albumin dialysis, PLEX is the only modality that simultaneously detoxifies, replaces synthetic function and modulates immunity — </a:t>
            </a:r>
            <a:r>
              <a:rPr sz="1600" b="0" i="0">
                <a:solidFill>
                  <a:srgbClr val="1A2A39"/>
                </a:solidFill>
                <a:latin typeface="Calibri"/>
              </a:rPr>
              <a:t>which likely explains its survival signal.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310896" cy="6400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998B"/>
                </a:solidFill>
                <a:latin typeface="Calibri"/>
              </a:rPr>
              <a:t>PLEX • LANDMARK TRIAL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High-volume PLEX improves survival in ALF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Role of Liver Support Systems in the ICU  •  Peri-Transplant 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17</a:t>
            </a:r>
          </a:p>
        </p:txBody>
      </p:sp>
      <p:pic>
        <p:nvPicPr>
          <p:cNvPr id="8" name="Picture 7" descr="04_larsen_r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583680" cy="4268919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406640" y="2194560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17536" y="2103120"/>
            <a:ext cx="39867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2545"/>
                </a:solidFill>
                <a:latin typeface="Calibri"/>
              </a:rPr>
              <a:t>First RCT of PLEX in ALF  </a:t>
            </a:r>
            <a:r>
              <a:rPr sz="1450" b="0" i="0">
                <a:solidFill>
                  <a:srgbClr val="1A2A39"/>
                </a:solidFill>
                <a:latin typeface="Calibri"/>
              </a:rPr>
              <a:t>182 patients; J Hepatol 2016</a:t>
            </a:r>
          </a:p>
        </p:txBody>
      </p:sp>
      <p:sp>
        <p:nvSpPr>
          <p:cNvPr id="11" name="Oval 10"/>
          <p:cNvSpPr/>
          <p:nvPr/>
        </p:nvSpPr>
        <p:spPr>
          <a:xfrm>
            <a:off x="7406640" y="3108960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17536" y="3017520"/>
            <a:ext cx="39867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2545"/>
                </a:solidFill>
                <a:latin typeface="Calibri"/>
              </a:rPr>
              <a:t>+11% absolute survival  </a:t>
            </a:r>
            <a:r>
              <a:rPr sz="1450" b="0" i="0">
                <a:solidFill>
                  <a:srgbClr val="1A2A39"/>
                </a:solidFill>
                <a:latin typeface="Calibri"/>
              </a:rPr>
              <a:t>transplant-free survival vs standard care</a:t>
            </a:r>
          </a:p>
        </p:txBody>
      </p:sp>
      <p:sp>
        <p:nvSpPr>
          <p:cNvPr id="13" name="Oval 12"/>
          <p:cNvSpPr/>
          <p:nvPr/>
        </p:nvSpPr>
        <p:spPr>
          <a:xfrm>
            <a:off x="7406640" y="4023360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17536" y="3931920"/>
            <a:ext cx="39867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2545"/>
                </a:solidFill>
                <a:latin typeface="Calibri"/>
              </a:rPr>
              <a:t>Mechanism confirmed  </a:t>
            </a:r>
            <a:r>
              <a:rPr sz="1450" b="0" i="0">
                <a:solidFill>
                  <a:srgbClr val="1A2A39"/>
                </a:solidFill>
                <a:latin typeface="Calibri"/>
              </a:rPr>
              <a:t>attenuated innate immune activation</a:t>
            </a:r>
          </a:p>
        </p:txBody>
      </p:sp>
      <p:sp>
        <p:nvSpPr>
          <p:cNvPr id="15" name="Oval 14"/>
          <p:cNvSpPr/>
          <p:nvPr/>
        </p:nvSpPr>
        <p:spPr>
          <a:xfrm>
            <a:off x="7406640" y="4937760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17536" y="4846320"/>
            <a:ext cx="39867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2545"/>
                </a:solidFill>
                <a:latin typeface="Calibri"/>
              </a:rPr>
              <a:t>Now in EASL guidance  </a:t>
            </a:r>
            <a:r>
              <a:rPr sz="1450" b="0" i="0">
                <a:solidFill>
                  <a:srgbClr val="1A2A39"/>
                </a:solidFill>
                <a:latin typeface="Calibri"/>
              </a:rPr>
              <a:t>Level I, Grade 1 recommendation for ALF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310896" cy="6400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998B"/>
                </a:solidFill>
                <a:latin typeface="Calibri"/>
              </a:rPr>
              <a:t>PLEX • REFINEMENT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Standard-volume PLEX may be enough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Role of Liver Support Systems in the ICU  •  Peri-Transplant 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18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103120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1047902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High-volume PLEX (HVP) —  </a:t>
            </a:r>
            <a:r>
              <a:rPr sz="1600" b="0" i="0">
                <a:solidFill>
                  <a:srgbClr val="1A2A39"/>
                </a:solidFill>
                <a:latin typeface="Calibri"/>
              </a:rPr>
              <a:t>8–12 L/day exchange established the survival benefit in the landmark trial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971800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880360"/>
            <a:ext cx="1047902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Standard-volume PLEX —  </a:t>
            </a:r>
            <a:r>
              <a:rPr sz="1600" b="0" i="0">
                <a:solidFill>
                  <a:srgbClr val="1A2A39"/>
                </a:solidFill>
                <a:latin typeface="Calibri"/>
              </a:rPr>
              <a:t>a later RCT showed comparable improvement in outcomes with less plasma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840480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749040"/>
            <a:ext cx="1047902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Practical implications —  </a:t>
            </a:r>
            <a:r>
              <a:rPr sz="1600" b="0" i="0">
                <a:solidFill>
                  <a:srgbClr val="1A2A39"/>
                </a:solidFill>
                <a:latin typeface="Calibri"/>
              </a:rPr>
              <a:t>lower plasma requirement, fewer resources, better feasibility in most ICUs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709159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4617719"/>
            <a:ext cx="1047902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Timing is critical —  </a:t>
            </a:r>
            <a:r>
              <a:rPr sz="1600" b="0" i="0">
                <a:solidFill>
                  <a:srgbClr val="1A2A39"/>
                </a:solidFill>
                <a:latin typeface="Calibri"/>
              </a:rPr>
              <a:t>earlier initiation is associated with better response — 'the battle can be lost if late'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760720"/>
            <a:ext cx="10881360" cy="777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9070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E8743B"/>
                </a:solidFill>
                <a:latin typeface="Calibri"/>
              </a:rPr>
              <a:t>Take-home:  </a:t>
            </a:r>
            <a:r>
              <a:rPr sz="1550" b="0" i="0">
                <a:solidFill>
                  <a:srgbClr val="0B2545"/>
                </a:solidFill>
                <a:latin typeface="Calibri"/>
              </a:rPr>
              <a:t>efficacy is robust across HVP and standard-volume protocols — favour earlier, resource-appropriate PLEX.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310896" cy="6400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998B"/>
                </a:solidFill>
                <a:latin typeface="Calibri"/>
              </a:rPr>
              <a:t>PLEX • ACLF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Mortality benefit out to one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Role of Liver Support Systems in the ICU  •  Peri-Transplant 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19</a:t>
            </a:r>
          </a:p>
        </p:txBody>
      </p:sp>
      <p:pic>
        <p:nvPicPr>
          <p:cNvPr id="8" name="Picture 7" descr="05_aclf_m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7680960" cy="456690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21040" y="2011680"/>
            <a:ext cx="32918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0" y="2011680"/>
            <a:ext cx="91440" cy="132588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7072" y="2176272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1B998B"/>
                </a:solidFill>
                <a:latin typeface="Calibri"/>
              </a:rPr>
              <a:t>5,336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624328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Calibri"/>
              </a:rPr>
              <a:t>ACLF patients across 23 studies in the pooled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3474720"/>
            <a:ext cx="32918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3474720"/>
            <a:ext cx="91440" cy="132588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3639312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E8743B"/>
                </a:solidFill>
                <a:latin typeface="Calibri"/>
              </a:rPr>
              <a:t>30% 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087368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Calibri"/>
              </a:rPr>
              <a:t>Relative risk of death at 30 days with PLEX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4937760"/>
            <a:ext cx="32918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4937760"/>
            <a:ext cx="91440" cy="1188720"/>
          </a:xfrm>
          <a:prstGeom prst="rect">
            <a:avLst/>
          </a:prstGeom>
          <a:solidFill>
            <a:srgbClr val="13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5102352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13335C"/>
                </a:solidFill>
                <a:latin typeface="Calibri"/>
              </a:rPr>
              <a:t>Golden 2 wks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5413248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Calibri"/>
              </a:rPr>
              <a:t>APASL window for early TPE in ACLF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310896" cy="6400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998B"/>
                </a:solidFill>
                <a:latin typeface="Calibri"/>
              </a:rPr>
              <a:t>PLEX • SUBGROUPS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Consistent across major aetiologies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Role of Liver Support Systems in the ICU  •  Peri-Transplant 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20</a:t>
            </a:r>
          </a:p>
        </p:txBody>
      </p:sp>
      <p:pic>
        <p:nvPicPr>
          <p:cNvPr id="8" name="Picture 7" descr="06_plex_eti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7315200" cy="412780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2194560"/>
            <a:ext cx="34747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A39"/>
                </a:solidFill>
                <a:latin typeface="Calibri"/>
              </a:rPr>
              <a:t>Benefit is seen in HBV- and alcohol-related ACLF, and a 2024 multicentre cohort reported </a:t>
            </a:r>
            <a:r>
              <a:rPr sz="1500" b="1" i="0">
                <a:solidFill>
                  <a:srgbClr val="E8743B"/>
                </a:solidFill>
                <a:latin typeface="Calibri"/>
              </a:rPr>
              <a:t>78% one-month transplant-free survival </a:t>
            </a:r>
            <a:r>
              <a:rPr sz="1500" b="0" i="0">
                <a:solidFill>
                  <a:srgbClr val="1A2A39"/>
                </a:solidFill>
                <a:latin typeface="Calibri"/>
              </a:rPr>
              <a:t>in severe alcoholic hepatitis treated with PLEX.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310896" cy="6400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998B"/>
                </a:solidFill>
                <a:latin typeface="Calibri"/>
              </a:rPr>
              <a:t>PLEX • PERI-TRANSPLANT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PLEX as a bridge to transplantation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Role of Liver Support Systems in the ICU  •  Peri-Transplant 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21</a:t>
            </a:r>
          </a:p>
        </p:txBody>
      </p:sp>
      <p:pic>
        <p:nvPicPr>
          <p:cNvPr id="8" name="Picture 7" descr="07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400800" cy="4366588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315200" y="2194560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6096" y="2103120"/>
            <a:ext cx="40782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2545"/>
                </a:solidFill>
                <a:latin typeface="Calibri"/>
              </a:rPr>
              <a:t>Keeps candidates viable  </a:t>
            </a:r>
            <a:r>
              <a:rPr sz="1450" b="0" i="0">
                <a:solidFill>
                  <a:srgbClr val="1A2A39"/>
                </a:solidFill>
                <a:latin typeface="Calibri"/>
              </a:rPr>
              <a:t>controls HE, coagulopathy &amp; inflammation while waiting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0" y="3108960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6096" y="3017520"/>
            <a:ext cx="40782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2545"/>
                </a:solidFill>
                <a:latin typeface="Calibri"/>
              </a:rPr>
              <a:t>65% lower 30-day mortality  </a:t>
            </a:r>
            <a:r>
              <a:rPr sz="1450" b="0" i="0">
                <a:solidFill>
                  <a:srgbClr val="1A2A39"/>
                </a:solidFill>
                <a:latin typeface="Calibri"/>
              </a:rPr>
              <a:t>in transplant candidates vs non-candidates (p=0.024)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0" y="4023360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6096" y="3931920"/>
            <a:ext cx="40782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2545"/>
                </a:solidFill>
                <a:latin typeface="Calibri"/>
              </a:rPr>
              <a:t>ABO-incompatible grafts  </a:t>
            </a:r>
            <a:r>
              <a:rPr sz="1450" b="0" i="0">
                <a:solidFill>
                  <a:srgbClr val="1A2A39"/>
                </a:solidFill>
                <a:latin typeface="Calibri"/>
              </a:rPr>
              <a:t>PLEX lowers isoagglutinin titres peri-operatively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4937760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6096" y="4846320"/>
            <a:ext cx="40782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2545"/>
                </a:solidFill>
                <a:latin typeface="Calibri"/>
              </a:rPr>
              <a:t>Bridge to recovery too  </a:t>
            </a:r>
            <a:r>
              <a:rPr sz="1450" b="0" i="0">
                <a:solidFill>
                  <a:srgbClr val="1A2A39"/>
                </a:solidFill>
                <a:latin typeface="Calibri"/>
              </a:rPr>
              <a:t>buys time for native liver regeneration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77440"/>
            <a:ext cx="822960" cy="91440"/>
          </a:xfrm>
          <a:prstGeom prst="rect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4A259"/>
                </a:solidFill>
                <a:latin typeface="Calibri"/>
              </a:rPr>
              <a:t>MODALITY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Albumin dialysis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E6ECF2"/>
                </a:solidFill>
                <a:latin typeface="Calibri"/>
              </a:rPr>
              <a:t>MARS &amp; Prometheus — strong biochemistry, elusive survival benefit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310896" cy="6400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998B"/>
                </a:solidFill>
                <a:latin typeface="Calibri"/>
              </a:rPr>
              <a:t>ALBUMIN DIALYSIS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What the big RCTs taught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Role of Liver Support Systems in the ICU  •  Peri-Transplant 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23</a:t>
            </a:r>
          </a:p>
        </p:txBody>
      </p:sp>
      <p:pic>
        <p:nvPicPr>
          <p:cNvPr id="8" name="Picture 7" descr="10_albumin_di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7132320" cy="418630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863840" y="2194560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74736" y="2103120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RELIEF (MARS)  </a:t>
            </a:r>
            <a:r>
              <a:rPr sz="1400" b="0" i="0">
                <a:solidFill>
                  <a:srgbClr val="1A2A39"/>
                </a:solidFill>
                <a:latin typeface="Calibri"/>
              </a:rPr>
              <a:t>largest ACLF RCT — no overall survival benefit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0" y="3108960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3017520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HELIOS (Prometheus)  </a:t>
            </a:r>
            <a:r>
              <a:rPr sz="1400" b="0" i="0">
                <a:solidFill>
                  <a:srgbClr val="1A2A39"/>
                </a:solidFill>
                <a:latin typeface="Calibri"/>
              </a:rPr>
              <a:t>lower bilirubin, no 28/90-day survival gain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0" y="4023360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736" y="3931920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Subgroups benefit  </a:t>
            </a:r>
            <a:r>
              <a:rPr sz="1400" b="0" i="0">
                <a:solidFill>
                  <a:srgbClr val="1A2A39"/>
                </a:solidFill>
                <a:latin typeface="Calibri"/>
              </a:rPr>
              <a:t>HRS-1 and MELD &gt;30 signals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4937760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4846320"/>
            <a:ext cx="3529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Role today  </a:t>
            </a:r>
            <a:r>
              <a:rPr sz="1400" b="0" i="0">
                <a:solidFill>
                  <a:srgbClr val="1A2A39"/>
                </a:solidFill>
                <a:latin typeface="Calibri"/>
              </a:rPr>
              <a:t>selected refractory cases; pruritus, HE relief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310896" cy="6400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998B"/>
                </a:solidFill>
                <a:latin typeface="Calibri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Choosing the right tool for the patient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Role of Liver Support Systems in the ICU  •  Peri-Transplant 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20240"/>
          <a:ext cx="11064240" cy="3767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3291840"/>
                <a:gridCol w="22860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Modality</a:t>
                      </a:r>
                    </a:p>
                  </a:txBody>
                  <a:tcPr marL="109728" marR="73152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 marL="109728" marR="73152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Key evidence</a:t>
                      </a:r>
                    </a:p>
                  </a:txBody>
                  <a:tcPr marL="109728" marR="73152" marT="45720" marB="45720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Peri-transplant role</a:t>
                      </a:r>
                    </a:p>
                  </a:txBody>
                  <a:tcPr marL="109728" marR="73152" marT="45720" marB="45720" anchor="ctr">
                    <a:solidFill>
                      <a:srgbClr val="0B2545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B998B"/>
                          </a:solidFill>
                          <a:latin typeface="Calibri"/>
                        </a:rPr>
                        <a:t>CRRT</a:t>
                      </a:r>
                    </a:p>
                  </a:txBody>
                  <a:tcPr marL="109728" marR="73152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1A2A39"/>
                          </a:solidFill>
                          <a:latin typeface="Calibri"/>
                        </a:rPr>
                        <a:t>Ammonia, AKI, ICP, volume</a:t>
                      </a:r>
                    </a:p>
                  </a:txBody>
                  <a:tcPr marL="109728" marR="73152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1A2A39"/>
                          </a:solidFill>
                          <a:latin typeface="Calibri"/>
                        </a:rPr>
                        <a:t>↑ survival via ammonia control</a:t>
                      </a:r>
                    </a:p>
                  </a:txBody>
                  <a:tcPr marL="109728" marR="73152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1A2A39"/>
                          </a:solidFill>
                          <a:latin typeface="Calibri"/>
                        </a:rPr>
                        <a:t>Workhorse — pre/post graft</a:t>
                      </a:r>
                    </a:p>
                  </a:txBody>
                  <a:tcPr marL="109728" marR="73152" marT="45720" marB="45720" anchor="ctr">
                    <a:solidFill>
                      <a:srgbClr val="F4F7FA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B998B"/>
                          </a:solidFill>
                          <a:latin typeface="Calibri"/>
                        </a:rPr>
                        <a:t>PLEX / TPE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1A2A39"/>
                          </a:solidFill>
                          <a:latin typeface="Calibri"/>
                        </a:rPr>
                        <a:t>Toxins + immunity + factors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1A2A39"/>
                          </a:solidFill>
                          <a:latin typeface="Calibri"/>
                        </a:rPr>
                        <a:t>RCT &amp; meta-analysis survival benefit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1A2A39"/>
                          </a:solidFill>
                          <a:latin typeface="Calibri"/>
                        </a:rPr>
                        <a:t>Bridge to LT / recovery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B998B"/>
                          </a:solidFill>
                          <a:latin typeface="Calibri"/>
                        </a:rPr>
                        <a:t>MARS / Prometheus</a:t>
                      </a:r>
                    </a:p>
                  </a:txBody>
                  <a:tcPr marL="109728" marR="73152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1A2A39"/>
                          </a:solidFill>
                          <a:latin typeface="Calibri"/>
                        </a:rPr>
                        <a:t>Refractory jaundice, HE, pruritus</a:t>
                      </a:r>
                    </a:p>
                  </a:txBody>
                  <a:tcPr marL="109728" marR="73152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1A2A39"/>
                          </a:solidFill>
                          <a:latin typeface="Calibri"/>
                        </a:rPr>
                        <a:t>Biochemistry ↑, survival neutral</a:t>
                      </a:r>
                    </a:p>
                  </a:txBody>
                  <a:tcPr marL="109728" marR="73152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1A2A39"/>
                          </a:solidFill>
                          <a:latin typeface="Calibri"/>
                        </a:rPr>
                        <a:t>Selected subgroups</a:t>
                      </a:r>
                    </a:p>
                  </a:txBody>
                  <a:tcPr marL="109728" marR="73152" marT="45720" marB="45720" anchor="ctr">
                    <a:solidFill>
                      <a:srgbClr val="F4F7FA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B998B"/>
                          </a:solidFill>
                          <a:latin typeface="Calibri"/>
                        </a:rPr>
                        <a:t>Bioartificial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1A2A39"/>
                          </a:solidFill>
                          <a:latin typeface="Calibri"/>
                        </a:rPr>
                        <a:t>Synthetic function (future)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1A2A39"/>
                          </a:solidFill>
                          <a:latin typeface="Calibri"/>
                        </a:rPr>
                        <a:t>Investigational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>
                          <a:solidFill>
                            <a:srgbClr val="1A2A39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109728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310896" cy="6400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998B"/>
                </a:solidFill>
                <a:latin typeface="Calibri"/>
              </a:rPr>
              <a:t>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An integrated peri-transplant pathway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Role of Liver Support Systems in the ICU  •  Peri-Transplant 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68880"/>
            <a:ext cx="2103120" cy="182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468880"/>
            <a:ext cx="2103120" cy="5486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57860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Recognise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3154680"/>
            <a:ext cx="1828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A2A39"/>
                </a:solidFill>
                <a:latin typeface="Calibri"/>
              </a:rPr>
              <a:t>ALF / ACLF
+ organ failures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87752" y="3246120"/>
            <a:ext cx="219456" cy="274320"/>
          </a:xfrm>
          <a:prstGeom prst="rightArrow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70632" y="2468880"/>
            <a:ext cx="2103120" cy="182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70632" y="2468880"/>
            <a:ext cx="2103120" cy="548640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0632" y="257860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Stabilise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6936" y="3154680"/>
            <a:ext cx="1828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A2A39"/>
                </a:solidFill>
                <a:latin typeface="Calibri"/>
              </a:rPr>
              <a:t>ICU care, NAC,
antivirals, sepsis Rx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55464" y="3246120"/>
            <a:ext cx="219456" cy="274320"/>
          </a:xfrm>
          <a:prstGeom prst="rightArrow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38344" y="2468880"/>
            <a:ext cx="2103120" cy="182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38344" y="2468880"/>
            <a:ext cx="2103120" cy="54864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8344" y="257860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4648" y="3154680"/>
            <a:ext cx="1828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A2A39"/>
                </a:solidFill>
                <a:latin typeface="Calibri"/>
              </a:rPr>
              <a:t>CRRT for ammonia/AKI
+ PLEX for toxins/immunity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23176" y="3246120"/>
            <a:ext cx="219456" cy="274320"/>
          </a:xfrm>
          <a:prstGeom prst="rightArrow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06056" y="2468880"/>
            <a:ext cx="2103120" cy="182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06056" y="2468880"/>
            <a:ext cx="2103120" cy="548640"/>
          </a:xfrm>
          <a:prstGeom prst="rect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06056" y="257860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Decide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154680"/>
            <a:ext cx="1828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A2A39"/>
                </a:solidFill>
                <a:latin typeface="Calibri"/>
              </a:rPr>
              <a:t>Recovery likely?
List for transplant?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390888" y="3246120"/>
            <a:ext cx="219456" cy="274320"/>
          </a:xfrm>
          <a:prstGeom prst="rightArrow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73768" y="2468880"/>
            <a:ext cx="2103120" cy="182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73768" y="2468880"/>
            <a:ext cx="2103120" cy="548640"/>
          </a:xfrm>
          <a:prstGeom prst="rect">
            <a:avLst/>
          </a:prstGeom>
          <a:solidFill>
            <a:srgbClr val="13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73768" y="257860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Bridge / Transplant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0072" y="3154680"/>
            <a:ext cx="1828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A2A39"/>
                </a:solidFill>
                <a:latin typeface="Calibri"/>
              </a:rPr>
              <a:t>PLEX bridge → LT
or native recovery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463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E8743B"/>
                </a:solidFill>
                <a:latin typeface="Calibri"/>
              </a:rPr>
              <a:t>Throughout: </a:t>
            </a:r>
            <a:r>
              <a:rPr sz="1550" b="0" i="0">
                <a:solidFill>
                  <a:srgbClr val="0B2545"/>
                </a:solidFill>
                <a:latin typeface="Calibri"/>
              </a:rPr>
              <a:t>treat the precipitant, support every failing organ, and re-assess transplant candidacy daily.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310896" cy="6400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998B"/>
                </a:solidFill>
                <a:latin typeface="Calibri"/>
              </a:rPr>
              <a:t>RECENT ADVANCES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What's changed in the last few years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Role of Liver Support Systems in the ICU  •  Peri-Transplant 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3611880" cy="182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91440" cy="18288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PLEX enters guidelines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A39"/>
                </a:solidFill>
                <a:latin typeface="Calibri"/>
              </a:rPr>
              <a:t>High-volume PLEX is now a Grade-1 recommendation for ALF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1965960"/>
            <a:ext cx="3611880" cy="182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965960"/>
            <a:ext cx="91440" cy="1828800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19456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Standard-volume PLEX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88036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A39"/>
                </a:solidFill>
                <a:latin typeface="Calibri"/>
              </a:rPr>
              <a:t>Comparable benefit with fewer resources — broader feasibility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66176" y="1965960"/>
            <a:ext cx="3611880" cy="182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66176" y="1965960"/>
            <a:ext cx="91440" cy="1828800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0496" y="219456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ACLF survival data matures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288036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A39"/>
                </a:solidFill>
                <a:latin typeface="Calibri"/>
              </a:rPr>
              <a:t>Large 2025 meta-analysis confirms 30-/90-day &amp; 1-year benefit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50792"/>
            <a:ext cx="3611880" cy="182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050792"/>
            <a:ext cx="91440" cy="1828800"/>
          </a:xfrm>
          <a:prstGeom prst="rect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27939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Ammonia-targeted CRRT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65192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A39"/>
                </a:solidFill>
                <a:latin typeface="Calibri"/>
              </a:rPr>
              <a:t>Early, high-dose CRRT for hyperammonaemia gains traction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4050792"/>
            <a:ext cx="3611880" cy="182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4050792"/>
            <a:ext cx="91440" cy="1828800"/>
          </a:xfrm>
          <a:prstGeom prst="rect">
            <a:avLst/>
          </a:prstGeom>
          <a:solidFill>
            <a:srgbClr val="13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8" y="427939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Bridge-to-LT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1728" y="4965192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A39"/>
                </a:solidFill>
                <a:latin typeface="Calibri"/>
              </a:rPr>
              <a:t>PLEX improves outcomes in listed candidates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66176" y="4050792"/>
            <a:ext cx="3611880" cy="182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66176" y="4050792"/>
            <a:ext cx="91440" cy="1828800"/>
          </a:xfrm>
          <a:prstGeom prst="rect">
            <a:avLst/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0496" y="427939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Etiology-specific 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0496" y="4965192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A39"/>
                </a:solidFill>
                <a:latin typeface="Calibri"/>
              </a:rPr>
              <a:t>Strong signals in alcohol-associated &amp; HBV ACLF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77440"/>
            <a:ext cx="822960" cy="91440"/>
          </a:xfrm>
          <a:prstGeom prst="rect">
            <a:avLst/>
          </a:prstGeom>
          <a:solidFill>
            <a:srgbClr val="13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3A89E"/>
                </a:solidFill>
                <a:latin typeface="Calibri"/>
              </a:rPr>
              <a:t>LOOKING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Futuristic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E6ECF2"/>
                </a:solidFill>
                <a:latin typeface="Calibri"/>
              </a:rPr>
              <a:t>From detoxification today to true liver replacement and regeneration tomorrow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310896" cy="6400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998B"/>
                </a:solidFill>
                <a:latin typeface="Calibri"/>
              </a:rPr>
              <a:t>THE FRONTIER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Where liver support is heading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Role of Liver Support Systems in the ICU  •  Peri-Transplant 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28</a:t>
            </a:r>
          </a:p>
        </p:txBody>
      </p:sp>
      <p:pic>
        <p:nvPicPr>
          <p:cNvPr id="8" name="Picture 7" descr="12_future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783080"/>
            <a:ext cx="8155626" cy="370332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31520" y="5715000"/>
            <a:ext cx="118872" cy="118872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5623560"/>
            <a:ext cx="10479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2545"/>
                </a:solidFill>
                <a:latin typeface="Calibri"/>
              </a:rPr>
              <a:t>Bioartificial liver —  </a:t>
            </a:r>
            <a:r>
              <a:rPr sz="1450" b="0" i="0">
                <a:solidFill>
                  <a:srgbClr val="1A2A39"/>
                </a:solidFill>
                <a:latin typeface="Calibri"/>
              </a:rPr>
              <a:t>organoid / hepatocyte bioreactors that add synthetic function, not just detoxification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310896" cy="6400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998B"/>
                </a:solidFill>
                <a:latin typeface="Calibri"/>
              </a:rPr>
              <a:t>ON THE HORIZON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Trials &amp; technologies to 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Role of Liver Support Systems in the ICU  •  Peri-Transplant 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29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11064240" cy="10241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109728" cy="1024128"/>
          </a:xfrm>
          <a:prstGeom prst="rect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39112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8743B"/>
                </a:solidFill>
                <a:latin typeface="Calibri"/>
              </a:rPr>
              <a:t>APACHE phase-3 RCT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32304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2A39"/>
                </a:solidFill>
                <a:latin typeface="Calibri"/>
              </a:rPr>
              <a:t>High-volume PLEX with 5% albumin in moderate-severe ACLF — could redefine the standard of care.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90672"/>
            <a:ext cx="11064240" cy="10241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90672"/>
            <a:ext cx="109728" cy="102412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095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998B"/>
                </a:solidFill>
                <a:latin typeface="Calibri"/>
              </a:rPr>
              <a:t>Bioartificial liver devices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0273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2A39"/>
                </a:solidFill>
                <a:latin typeface="Calibri"/>
              </a:rPr>
              <a:t>3-D hepatocyte/organoid bioreactors aim to replace synthetic function, not just detoxify.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61104"/>
            <a:ext cx="11064240" cy="10241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261104"/>
            <a:ext cx="109728" cy="1024128"/>
          </a:xfrm>
          <a:prstGeom prst="rect">
            <a:avLst/>
          </a:prstGeom>
          <a:solidFill>
            <a:srgbClr val="13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79976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3335C"/>
                </a:solidFill>
                <a:latin typeface="Calibri"/>
              </a:rPr>
              <a:t>Cell-based &amp; gene therapy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7316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2A39"/>
                </a:solidFill>
                <a:latin typeface="Calibri"/>
              </a:rPr>
              <a:t>Hepatocyte transplantation and stem-cell-derived liver cells as a bridge or alternative to 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31536"/>
            <a:ext cx="11064240" cy="10241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  <a:effectLst>
            <a:outerShdw blurRad="90000" dist="40000" dir="5400000" rotWithShape="0">
              <a:srgbClr val="0B2545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431536"/>
            <a:ext cx="109728" cy="1024128"/>
          </a:xfrm>
          <a:prstGeom prst="rect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550408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4A259"/>
                </a:solidFill>
                <a:latin typeface="Calibri"/>
              </a:rPr>
              <a:t>AI-guided &amp; perfusion tech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943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2A39"/>
                </a:solidFill>
                <a:latin typeface="Calibri"/>
              </a:rPr>
              <a:t>Machine perfusion expands the donor pool; AI may individualise support timing &amp; dosing.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3A89E"/>
                </a:solidFill>
                <a:latin typeface="Calibr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Five messages to take to the bedside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112264"/>
            <a:ext cx="457200" cy="45720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762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574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Buy time, target the toxin.  </a:t>
            </a:r>
            <a:r>
              <a:rPr sz="1500" b="0" i="0">
                <a:solidFill>
                  <a:srgbClr val="E6ECF2"/>
                </a:solidFill>
                <a:latin typeface="Calibri"/>
              </a:rPr>
              <a:t>Liver support bridges to recovery or transplant — match the modality to the toxin class.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898648"/>
            <a:ext cx="457200" cy="457200"/>
          </a:xfrm>
          <a:prstGeom prst="ellipse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6265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843784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PLEX has the strongest evidence.  </a:t>
            </a:r>
            <a:r>
              <a:rPr sz="1500" b="0" i="0">
                <a:solidFill>
                  <a:srgbClr val="E6ECF2"/>
                </a:solidFill>
                <a:latin typeface="Calibri"/>
              </a:rPr>
              <a:t>Survival benefit in ALF (RCT) and ACLF (meta-analysis) — start early.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685032"/>
            <a:ext cx="457200" cy="45720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490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63016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CRRT is a metabolic therapy.  </a:t>
            </a:r>
            <a:r>
              <a:rPr sz="1500" b="0" i="0">
                <a:solidFill>
                  <a:srgbClr val="E6ECF2"/>
                </a:solidFill>
                <a:latin typeface="Calibri"/>
              </a:rPr>
              <a:t>Use it for ammonia and ICP control, not only for the kidneys.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471416"/>
            <a:ext cx="457200" cy="457200"/>
          </a:xfrm>
          <a:prstGeom prst="ellipse">
            <a:avLst/>
          </a:prstGeom>
          <a:solidFill>
            <a:srgbClr val="E8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53542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416552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Albumin dialysis: pick your patient.  </a:t>
            </a:r>
            <a:r>
              <a:rPr sz="1500" b="0" i="0">
                <a:solidFill>
                  <a:srgbClr val="E6ECF2"/>
                </a:solidFill>
                <a:latin typeface="Calibri"/>
              </a:rPr>
              <a:t>Biochemistry improves; reserve for selected refractory subgroups.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257800"/>
            <a:ext cx="457200" cy="45720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3218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202936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The future is regenerative.  </a:t>
            </a:r>
            <a:r>
              <a:rPr sz="1500" b="0" i="0">
                <a:solidFill>
                  <a:srgbClr val="E6ECF2"/>
                </a:solidFill>
                <a:latin typeface="Calibri"/>
              </a:rPr>
              <a:t>Bioartificial livers, cell therapy and AI-guided support are coming.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310896" cy="6400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9264" y="365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998B"/>
                </a:solidFill>
                <a:latin typeface="Calibri"/>
              </a:rPr>
              <a:t>EVIDENCE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2545"/>
                </a:solidFill>
                <a:latin typeface="Calibri"/>
              </a:rPr>
              <a:t>Key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C6B7A"/>
                </a:solidFill>
                <a:latin typeface="Calibri"/>
              </a:rPr>
              <a:t>Role of Liver Support Systems in the ICU  •  Peri-Transplant Setting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7A"/>
                </a:solidFill>
                <a:latin typeface="Calibri"/>
              </a:rPr>
              <a:t>31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892808"/>
            <a:ext cx="91440" cy="914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A39"/>
                </a:solidFill>
                <a:latin typeface="Calibri"/>
              </a:rPr>
              <a:t>Larsen FS et al. High-volume plasma exchange in acute liver failure: an open RCT. J Hepatol 2016;64:69–78.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2368296"/>
            <a:ext cx="91440" cy="914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0428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A39"/>
                </a:solidFill>
                <a:latin typeface="Calibri"/>
              </a:rPr>
              <a:t>Maiwall R et al. Standard-volume plasma exchange improves outcomes in ALF: an RCT. Clin Gastroenterol Hepatol 2022.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2843784"/>
            <a:ext cx="91440" cy="914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79776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A39"/>
                </a:solidFill>
                <a:latin typeface="Calibri"/>
              </a:rPr>
              <a:t>Kumar R et al. Therapeutic plasma exchange in ACLF improves survival — an updated meta-analysis. Liver Int 2025.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3319272"/>
            <a:ext cx="91440" cy="914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5526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A39"/>
                </a:solidFill>
                <a:latin typeface="Calibri"/>
              </a:rPr>
              <a:t>Bañares R et al. (RELIEF) Extracorporeal albumin dialysis with MARS in ACLF. Hepatology 2013.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" y="3794760"/>
            <a:ext cx="91440" cy="914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30752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A39"/>
                </a:solidFill>
                <a:latin typeface="Calibri"/>
              </a:rPr>
              <a:t>Kribben A et al. (HELIOS) Effects of Prometheus in patients with ACLF. Gastroenterology 2012.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4270248"/>
            <a:ext cx="91440" cy="914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2062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A39"/>
                </a:solidFill>
                <a:latin typeface="Calibri"/>
              </a:rPr>
              <a:t>Cardoso FS et al. CRRT &amp; hyperammonaemia in acute liver failure. Crit Care / J Hepatol reports.</a:t>
            </a:r>
          </a:p>
        </p:txBody>
      </p:sp>
      <p:sp>
        <p:nvSpPr>
          <p:cNvPr id="20" name="Oval 19"/>
          <p:cNvSpPr/>
          <p:nvPr/>
        </p:nvSpPr>
        <p:spPr>
          <a:xfrm>
            <a:off x="594360" y="4745736"/>
            <a:ext cx="91440" cy="914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6817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A39"/>
                </a:solidFill>
                <a:latin typeface="Calibri"/>
              </a:rPr>
              <a:t>EASL Clinical Practice Guidelines on the management of acute (fulminant) liver failure. J Hepatol.</a:t>
            </a:r>
          </a:p>
        </p:txBody>
      </p:sp>
      <p:sp>
        <p:nvSpPr>
          <p:cNvPr id="22" name="Oval 21"/>
          <p:cNvSpPr/>
          <p:nvPr/>
        </p:nvSpPr>
        <p:spPr>
          <a:xfrm>
            <a:off x="594360" y="5221224"/>
            <a:ext cx="91440" cy="914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157216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A39"/>
                </a:solidFill>
                <a:latin typeface="Calibri"/>
              </a:rPr>
              <a:t>APACHE trial (NCT03702920): plasma exchange with albumin 5% in ACLF.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76986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5C6B7A"/>
                </a:solidFill>
                <a:latin typeface="Calibri"/>
              </a:rPr>
              <a:t>Figures generated from published trial &amp; meta-analysis data; some values are illustrative for teaching. Verify before clinical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